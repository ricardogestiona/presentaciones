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608262" y="3644503"/>
            <a:ext cx="11039277" cy="8229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7999"/>
              </a:lnSpc>
            </a:pPr>
            <a:r>
              <a:rPr sz="6000" b="1" i="0" spc="-50">
                <a:solidFill>
                  <a:srgbClr val="003040"/>
                </a:solidFill>
                <a:latin typeface="Roboto"/>
              </a:rPr>
              <a:t>Proposta de migració a</a:t>
            </a:r>
            <a:r>
              <a:rPr sz="6000" b="1" i="0" spc="-50">
                <a:solidFill>
                  <a:srgbClr val="7FB927"/>
                </a:solidFill>
                <a:latin typeface="Roboto"/>
              </a:rPr>
              <a:t> Gestiona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0" y="4823023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585420" y="5077023"/>
            <a:ext cx="5084961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55000"/>
              </a:lnSpc>
            </a:pPr>
            <a:r>
              <a:rPr sz="1500" b="0" i="0">
                <a:solidFill>
                  <a:srgbClr val="3D5C66"/>
                </a:solidFill>
                <a:latin typeface="Roboto"/>
              </a:rPr>
              <a:t>Autoritat Catalana de Protecció de Dades · octubre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Punt de 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8411" y="3336925"/>
            <a:ext cx="6759178" cy="254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760" b="0" i="0" spc="70">
                <a:solidFill>
                  <a:srgbClr val="3D5C66"/>
                </a:solidFill>
                <a:latin typeface="Roboto"/>
              </a:rPr>
              <a:t>Compromís d'esPublico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811" y="3844925"/>
            <a:ext cx="6708378" cy="1365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4480" b="0" i="0">
                <a:solidFill>
                  <a:srgbClr val="003040"/>
                </a:solidFill>
                <a:latin typeface="Roboto"/>
              </a:rPr>
              <a:t>Configurar el</a:t>
            </a:r>
            <a:r>
              <a:rPr sz="4480" b="1" i="0">
                <a:solidFill>
                  <a:srgbClr val="7FB927"/>
                </a:solidFill>
                <a:latin typeface="Roboto"/>
              </a:rPr>
              <a:t> bessó digital</a:t>
            </a:r>
          </a:p>
          <a:p>
            <a:pPr algn="ctr">
              <a:lnSpc>
                <a:spcPct val="120000"/>
              </a:lnSpc>
            </a:pPr>
            <a:r>
              <a:rPr sz="4480" b="0" i="0">
                <a:solidFill>
                  <a:srgbClr val="003040"/>
                </a:solidFill>
                <a:latin typeface="Roboto"/>
              </a:rPr>
              <a:t>de l'APDCAT a Gestiona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1600" y="5718175"/>
            <a:ext cx="812800" cy="381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48411" y="6264275"/>
            <a:ext cx="6759178" cy="53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3520" b="1" i="0">
                <a:solidFill>
                  <a:srgbClr val="7FB927"/>
                </a:solidFill>
                <a:latin typeface="Roboto"/>
              </a:rPr>
              <a:t>30 de setembre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Bessó digital: configuració realitzada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3080742"/>
            <a:ext cx="5968802" cy="3973116"/>
          </a:xfrm>
          <a:prstGeom prst="roundRect">
            <a:avLst>
              <a:gd name="adj" fmla="val 4475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12800" y="3131542"/>
            <a:ext cx="5968802" cy="3922316"/>
          </a:xfrm>
          <a:prstGeom prst="roundRect">
            <a:avLst>
              <a:gd name="adj" fmla="val 4533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30300" y="3497659"/>
            <a:ext cx="5333802" cy="1117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10000"/>
              </a:lnSpc>
            </a:pPr>
            <a:r>
              <a:rPr sz="8000" b="1" i="0">
                <a:solidFill>
                  <a:srgbClr val="7FB927"/>
                </a:solidFill>
                <a:latin typeface="Roboto"/>
              </a:rPr>
              <a:t>249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" y="4691459"/>
            <a:ext cx="5333802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Tasques reglades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8400" y="5366742"/>
            <a:ext cx="5257602" cy="13208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68400" y="5366742"/>
            <a:ext cx="5257602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726605" y="5684242"/>
            <a:ext cx="635992" cy="50363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54999"/>
              </a:lnSpc>
            </a:pPr>
            <a:r>
              <a:rPr sz="2560" b="1" i="0">
                <a:solidFill>
                  <a:srgbClr val="5A8A17"/>
                </a:solidFill>
                <a:latin typeface="Roboto"/>
              </a:rPr>
              <a:t>183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297" y="6238677"/>
            <a:ext cx="1370608" cy="2244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0000"/>
              </a:lnSpc>
            </a:pPr>
            <a:r>
              <a:rPr sz="1360" b="0" i="0">
                <a:solidFill>
                  <a:srgbClr val="3D5C66"/>
                </a:solidFill>
                <a:latin typeface="Roboto"/>
              </a:rPr>
              <a:t>En procediments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0802" y="5684242"/>
            <a:ext cx="1752600" cy="1003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920802" y="5684242"/>
            <a:ext cx="12700" cy="10033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78622" y="5684242"/>
            <a:ext cx="449461" cy="50363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54999"/>
              </a:lnSpc>
            </a:pPr>
            <a:r>
              <a:rPr sz="2560" b="1" i="0">
                <a:solidFill>
                  <a:srgbClr val="5A8A17"/>
                </a:solidFill>
                <a:latin typeface="Roboto"/>
              </a:rPr>
              <a:t>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6341" y="6238677"/>
            <a:ext cx="1394222" cy="22443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0000"/>
              </a:lnSpc>
            </a:pPr>
            <a:r>
              <a:rPr sz="1360" b="0" i="0">
                <a:solidFill>
                  <a:srgbClr val="3D5C66"/>
                </a:solidFill>
                <a:latin typeface="Roboto"/>
              </a:rPr>
              <a:t>En subprocessos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3402" y="5684242"/>
            <a:ext cx="1752600" cy="1003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673402" y="5684242"/>
            <a:ext cx="12700" cy="10033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31222" y="5684242"/>
            <a:ext cx="449461" cy="50363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54999"/>
              </a:lnSpc>
            </a:pPr>
            <a:r>
              <a:rPr sz="2560" b="1" i="0">
                <a:solidFill>
                  <a:srgbClr val="5A8A17"/>
                </a:solidFill>
                <a:latin typeface="Roboto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5002" y="6238677"/>
            <a:ext cx="1562100" cy="44886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1360" b="0" i="0">
                <a:solidFill>
                  <a:srgbClr val="3D5C66"/>
                </a:solidFill>
                <a:latin typeface="Roboto"/>
              </a:rPr>
              <a:t>Al procediment genèric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402" y="3080742"/>
            <a:ext cx="4025900" cy="1980208"/>
          </a:xfrm>
          <a:prstGeom prst="roundRect">
            <a:avLst>
              <a:gd name="adj" fmla="val 8978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086402" y="3131542"/>
            <a:ext cx="4025900" cy="1929408"/>
          </a:xfrm>
          <a:prstGeom prst="roundRect">
            <a:avLst>
              <a:gd name="adj" fmla="val 921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03902" y="3487142"/>
            <a:ext cx="33909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241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3902" y="4144367"/>
            <a:ext cx="33909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Camps personalitzats al tesaurus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17102" y="3080742"/>
            <a:ext cx="4025900" cy="1980208"/>
          </a:xfrm>
          <a:prstGeom prst="roundRect">
            <a:avLst>
              <a:gd name="adj" fmla="val 8978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1417102" y="3131542"/>
            <a:ext cx="4025900" cy="1929408"/>
          </a:xfrm>
          <a:prstGeom prst="roundRect">
            <a:avLst>
              <a:gd name="adj" fmla="val 921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734602" y="3487142"/>
            <a:ext cx="33909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34602" y="4144367"/>
            <a:ext cx="33909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Procediments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4602" y="4514850"/>
            <a:ext cx="33909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312" b="0" i="0">
                <a:solidFill>
                  <a:srgbClr val="3D5C66"/>
                </a:solidFill>
                <a:latin typeface="Roboto"/>
              </a:rPr>
              <a:t>+2 duplicats amb versions alternatives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402" y="5365750"/>
            <a:ext cx="4025900" cy="1688108"/>
          </a:xfrm>
          <a:prstGeom prst="roundRect">
            <a:avLst>
              <a:gd name="adj" fmla="val 10532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086402" y="5416550"/>
            <a:ext cx="4025900" cy="1637308"/>
          </a:xfrm>
          <a:prstGeom prst="roundRect">
            <a:avLst>
              <a:gd name="adj" fmla="val 10859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403902" y="5772150"/>
            <a:ext cx="33909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3902" y="6429375"/>
            <a:ext cx="33909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Circuits de resolució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17102" y="5365750"/>
            <a:ext cx="4025900" cy="1688108"/>
          </a:xfrm>
          <a:prstGeom prst="roundRect">
            <a:avLst>
              <a:gd name="adj" fmla="val 10532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11417102" y="5416550"/>
            <a:ext cx="4025900" cy="1637308"/>
          </a:xfrm>
          <a:prstGeom prst="roundRect">
            <a:avLst>
              <a:gd name="adj" fmla="val 10859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1734602" y="5772150"/>
            <a:ext cx="33909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34602" y="6429375"/>
            <a:ext cx="33909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Subprocessos reglats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Procediments configurats · SG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2755900"/>
            <a:ext cx="46736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12800" y="27559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219200" y="33782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3644900"/>
            <a:ext cx="47625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87600" y="3384550"/>
            <a:ext cx="28194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PROC_SG_02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7600" y="3625850"/>
            <a:ext cx="2768600" cy="66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Comunicació de la designació del DPD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1200" y="2755900"/>
            <a:ext cx="46736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91200" y="27559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197600" y="33782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488" y="3644900"/>
            <a:ext cx="428625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66000" y="3384550"/>
            <a:ext cx="28194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PROC_SG_03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000" y="3625850"/>
            <a:ext cx="2768600" cy="66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Proposta de contractació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69600" y="2755900"/>
            <a:ext cx="46736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769600" y="27559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1176000" y="33782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0325" y="3644900"/>
            <a:ext cx="28575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0" y="3549650"/>
            <a:ext cx="1983581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PROC_SG_04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0" y="3790950"/>
            <a:ext cx="1983581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Contracte menor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800" y="5219700"/>
            <a:ext cx="46736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12800" y="52197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219200" y="58420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275" y="6108700"/>
            <a:ext cx="476250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387600" y="6013450"/>
            <a:ext cx="2332236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PROC_SG_05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7600" y="6254750"/>
            <a:ext cx="2332236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Contracte no menor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91200" y="5219700"/>
            <a:ext cx="46736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791200" y="52197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197600" y="58420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300" y="6108700"/>
            <a:ext cx="381000" cy="381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66000" y="6013450"/>
            <a:ext cx="183515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PROC_SG_06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6000" y="6254750"/>
            <a:ext cx="1835150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Atenció pública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69600" y="5219700"/>
            <a:ext cx="46736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0769600" y="52197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1176000" y="58420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95075" y="6108700"/>
            <a:ext cx="476250" cy="381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344400" y="6013450"/>
            <a:ext cx="1950839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PROC_SG_06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0" y="6254750"/>
            <a:ext cx="1950839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Exercici de drets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Procediments configurats · AJ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3162300"/>
            <a:ext cx="4673600" cy="3810000"/>
          </a:xfrm>
          <a:prstGeom prst="roundRect">
            <a:avLst>
              <a:gd name="adj" fmla="val 4666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12800" y="3162300"/>
            <a:ext cx="50800" cy="3810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717800" y="419735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4464050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88331" y="5365750"/>
            <a:ext cx="2573139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PROC-AJ-01-CNS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8331" y="5607050"/>
            <a:ext cx="2573139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Emissió de dictàmens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1200" y="3162300"/>
            <a:ext cx="4673600" cy="3810000"/>
          </a:xfrm>
          <a:prstGeom prst="roundRect">
            <a:avLst>
              <a:gd name="adj" fmla="val 4666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91200" y="3162300"/>
            <a:ext cx="50800" cy="3810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696200" y="403225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088" y="4298950"/>
            <a:ext cx="428625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59500" y="5200650"/>
            <a:ext cx="39878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PROC-AJ-02-PD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4900" y="5441950"/>
            <a:ext cx="3937000" cy="66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Emissió d'informe sobre disposicions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69600" y="3162300"/>
            <a:ext cx="4673600" cy="3810000"/>
          </a:xfrm>
          <a:prstGeom prst="roundRect">
            <a:avLst>
              <a:gd name="adj" fmla="val 4666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769600" y="3162300"/>
            <a:ext cx="50800" cy="3810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2674600" y="419735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8925" y="4464050"/>
            <a:ext cx="28575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311930" y="5365750"/>
            <a:ext cx="3639542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PROC-AJ-12-IAI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11930" y="5607050"/>
            <a:ext cx="3639542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Informe d'accés a la informació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Procediments configurats · 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2755900"/>
            <a:ext cx="71628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12800" y="27559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219200" y="33782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8" y="3644900"/>
            <a:ext cx="428625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87600" y="3549650"/>
            <a:ext cx="3423047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PROC-INS-004 · AIP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7600" y="3790950"/>
            <a:ext cx="3423047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Accés a la informació pública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0400" y="2755900"/>
            <a:ext cx="71628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280400" y="27559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686800" y="33782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3644900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55200" y="3549650"/>
            <a:ext cx="2470547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PROC-INS-01-IP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5200" y="3790950"/>
            <a:ext cx="2470547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Informacions prèvies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" y="5219700"/>
            <a:ext cx="71628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2800" y="52197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219200" y="58420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6108700"/>
            <a:ext cx="38100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87600" y="6013450"/>
            <a:ext cx="3570089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PROC-INS-02-PT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7600" y="6254750"/>
            <a:ext cx="3570089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Procediment de tutela de drets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0400" y="5219700"/>
            <a:ext cx="7162800" cy="2159000"/>
          </a:xfrm>
          <a:prstGeom prst="roundRect">
            <a:avLst>
              <a:gd name="adj" fmla="val 823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280400" y="5219700"/>
            <a:ext cx="50800" cy="2159000"/>
          </a:xfrm>
          <a:prstGeom prst="rect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686800" y="5842000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0" y="6108700"/>
            <a:ext cx="381000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55200" y="6013450"/>
            <a:ext cx="2998192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248" b="1" i="0" spc="30">
                <a:solidFill>
                  <a:srgbClr val="5A8A17"/>
                </a:solidFill>
                <a:latin typeface="Roboto"/>
              </a:rPr>
              <a:t>PROC-INS-03-PS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5200" y="6254750"/>
            <a:ext cx="2998192" cy="330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3040"/>
                </a:solidFill>
                <a:latin typeface="Roboto"/>
              </a:rPr>
              <a:t>Procediment sancionador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Ús de l'entorn bessó a les proves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4223147"/>
            <a:ext cx="3429000" cy="1688108"/>
          </a:xfrm>
          <a:prstGeom prst="roundRect">
            <a:avLst>
              <a:gd name="adj" fmla="val 10532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12800" y="4273947"/>
            <a:ext cx="3429000" cy="1637308"/>
          </a:xfrm>
          <a:prstGeom prst="roundRect">
            <a:avLst>
              <a:gd name="adj" fmla="val 10859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30300" y="4629547"/>
            <a:ext cx="27940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" y="5286772"/>
            <a:ext cx="27940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Usuaris creats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6600" y="4223147"/>
            <a:ext cx="3429000" cy="1688108"/>
          </a:xfrm>
          <a:prstGeom prst="roundRect">
            <a:avLst>
              <a:gd name="adj" fmla="val 10532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46600" y="4273947"/>
            <a:ext cx="3429000" cy="1637308"/>
          </a:xfrm>
          <a:prstGeom prst="roundRect">
            <a:avLst>
              <a:gd name="adj" fmla="val 10859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64100" y="4629547"/>
            <a:ext cx="27940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100" y="5286772"/>
            <a:ext cx="27940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Expedients a la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0400" y="4223147"/>
            <a:ext cx="3429000" cy="1688108"/>
          </a:xfrm>
          <a:prstGeom prst="roundRect">
            <a:avLst>
              <a:gd name="adj" fmla="val 10532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280400" y="4273947"/>
            <a:ext cx="3429000" cy="1637308"/>
          </a:xfrm>
          <a:prstGeom prst="roundRect">
            <a:avLst>
              <a:gd name="adj" fmla="val 10859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97900" y="4629547"/>
            <a:ext cx="27940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108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7900" y="5286772"/>
            <a:ext cx="27940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Anotacions de registre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14200" y="4223147"/>
            <a:ext cx="3429000" cy="1688108"/>
          </a:xfrm>
          <a:prstGeom prst="roundRect">
            <a:avLst>
              <a:gd name="adj" fmla="val 10532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2014200" y="4273947"/>
            <a:ext cx="3429000" cy="1637308"/>
          </a:xfrm>
          <a:prstGeom prst="roundRect">
            <a:avLst>
              <a:gd name="adj" fmla="val 10859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331700" y="4629547"/>
            <a:ext cx="27940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719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31700" y="5286772"/>
            <a:ext cx="27940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Tasques executades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Actuacions de l'equip de consultoria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3092847"/>
            <a:ext cx="4673600" cy="1980208"/>
          </a:xfrm>
          <a:prstGeom prst="roundRect">
            <a:avLst>
              <a:gd name="adj" fmla="val 8978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12800" y="3143647"/>
            <a:ext cx="4673600" cy="1929408"/>
          </a:xfrm>
          <a:prstGeom prst="roundRect">
            <a:avLst>
              <a:gd name="adj" fmla="val 921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30300" y="3499247"/>
            <a:ext cx="40386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0300" y="4156472"/>
            <a:ext cx="40386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Reunions presencials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0300" y="4526955"/>
            <a:ext cx="40386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312" b="0" i="0">
                <a:solidFill>
                  <a:srgbClr val="3D5C66"/>
                </a:solidFill>
                <a:latin typeface="Roboto"/>
              </a:rPr>
              <a:t>9 i 10 de setembre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91200" y="3092847"/>
            <a:ext cx="4673600" cy="1980208"/>
          </a:xfrm>
          <a:prstGeom prst="roundRect">
            <a:avLst>
              <a:gd name="adj" fmla="val 8978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791200" y="3143647"/>
            <a:ext cx="4673600" cy="1929408"/>
          </a:xfrm>
          <a:prstGeom prst="roundRect">
            <a:avLst>
              <a:gd name="adj" fmla="val 921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08700" y="3499247"/>
            <a:ext cx="40386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700" y="4156472"/>
            <a:ext cx="40386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Reunions en línia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700" y="4526955"/>
            <a:ext cx="40386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312" b="0" i="0">
                <a:solidFill>
                  <a:srgbClr val="3D5C66"/>
                </a:solidFill>
                <a:latin typeface="Roboto"/>
              </a:rPr>
              <a:t>28, 29 i 30 de setembre · 8 i 9 d'octubre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69600" y="3092847"/>
            <a:ext cx="4673600" cy="1980208"/>
          </a:xfrm>
          <a:prstGeom prst="roundRect">
            <a:avLst>
              <a:gd name="adj" fmla="val 8978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0769600" y="3143647"/>
            <a:ext cx="4673600" cy="1929408"/>
          </a:xfrm>
          <a:prstGeom prst="roundRect">
            <a:avLst>
              <a:gd name="adj" fmla="val 921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087100" y="3499247"/>
            <a:ext cx="4038600" cy="581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9999"/>
              </a:lnSpc>
            </a:pPr>
            <a:r>
              <a:rPr sz="4160" b="1" i="0">
                <a:solidFill>
                  <a:srgbClr val="7FB927"/>
                </a:solidFill>
                <a:latin typeface="Robot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7100" y="4156472"/>
            <a:ext cx="4038600" cy="2688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35000"/>
              </a:lnSpc>
            </a:pPr>
            <a:r>
              <a:rPr sz="1568" b="0" i="0">
                <a:solidFill>
                  <a:srgbClr val="1A3A44"/>
                </a:solidFill>
                <a:latin typeface="Roboto"/>
              </a:rPr>
              <a:t>Especialistes en remot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7100" y="4526955"/>
            <a:ext cx="40386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312" b="0" i="0">
                <a:solidFill>
                  <a:srgbClr val="3D5C66"/>
                </a:solidFill>
                <a:latin typeface="Roboto"/>
              </a:rPr>
              <a:t>Elena i Raúl · d'agost a la 1a setmana d'octubre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60800" y="5631855"/>
            <a:ext cx="5056981" cy="14097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860800" y="5631855"/>
            <a:ext cx="12700" cy="1409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17781" y="5631855"/>
            <a:ext cx="4894064" cy="14097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917781" y="5631855"/>
            <a:ext cx="12700" cy="1409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3811845" y="5631855"/>
            <a:ext cx="1631355" cy="14097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811845" y="5631855"/>
            <a:ext cx="12700" cy="1409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5430500" y="5631855"/>
            <a:ext cx="12700" cy="1409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12800" y="5631855"/>
            <a:ext cx="14630400" cy="3810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12800" y="5987455"/>
            <a:ext cx="14630400" cy="25400"/>
          </a:xfrm>
          <a:prstGeom prst="rect">
            <a:avLst/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822700" y="5720755"/>
            <a:ext cx="5133181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AGOST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9681" y="5720755"/>
            <a:ext cx="4970264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SETEMBRE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73745" y="5720755"/>
            <a:ext cx="1707555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OCTUBRE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6085284"/>
            <a:ext cx="3124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Treball en remot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6101755"/>
            <a:ext cx="11042055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12800" y="6428184"/>
            <a:ext cx="3124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Reunions presencials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8305" y="6444655"/>
            <a:ext cx="275431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12800" y="6771084"/>
            <a:ext cx="3124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Reunions en línia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347700" y="6787555"/>
            <a:ext cx="438745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14979055" y="6787555"/>
            <a:ext cx="275431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045023" y="3562350"/>
            <a:ext cx="10165953" cy="774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5200" b="1" i="0" spc="-50">
                <a:solidFill>
                  <a:srgbClr val="FFFFFF"/>
                </a:solidFill>
                <a:latin typeface="Roboto"/>
              </a:rPr>
              <a:t>Proposta de projecte d'implantació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0" y="469265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33342" y="5073650"/>
            <a:ext cx="6589316" cy="381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FFFFFF"/>
                </a:solidFill>
                <a:latin typeface="Roboto"/>
              </a:rPr>
              <a:t>Del bessó digital a l'entorn real: dues opcions de calendari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Dues dimensions del projecte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00" y="2876352"/>
            <a:ext cx="6502400" cy="4381897"/>
          </a:xfrm>
          <a:prstGeom prst="roundRect">
            <a:avLst>
              <a:gd name="adj" fmla="val 4057"/>
            </a:avLst>
          </a:prstGeom>
          <a:solidFill>
            <a:srgbClr val="7FB927"/>
          </a:solidFill>
          <a:effectLst/>
          <a:ln>
            <a:noFill/>
          </a:ln>
          <a:effectLst>
            <a:outerShdw blurRad="203200" dist="25400" dir="5400000" algn="ctr" rotWithShape="0">
              <a:srgbClr val="00304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397000" y="2927152"/>
            <a:ext cx="6502400" cy="4331097"/>
          </a:xfrm>
          <a:prstGeom prst="roundRect">
            <a:avLst>
              <a:gd name="adj" fmla="val 410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803400" y="3435152"/>
            <a:ext cx="914400" cy="914400"/>
          </a:xfrm>
          <a:prstGeom prst="ellipse">
            <a:avLst/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75" y="3701852"/>
            <a:ext cx="47625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3400" y="4603552"/>
            <a:ext cx="5765800" cy="381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2560" b="1" i="0">
                <a:solidFill>
                  <a:srgbClr val="7FB927"/>
                </a:solidFill>
                <a:latin typeface="Roboto"/>
              </a:rPr>
              <a:t>Vessant jurídica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3400" y="5289352"/>
            <a:ext cx="5689600" cy="730448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803400" y="5289352"/>
            <a:ext cx="5689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03400" y="5289352"/>
            <a:ext cx="5765800" cy="730448"/>
          </a:xfrm>
          <a:prstGeom prst="rect">
            <a:avLst/>
          </a:prstGeom>
          <a:noFill/>
        </p:spPr>
        <p:txBody>
          <a:bodyPr wrap="none" lIns="0" rIns="0" tIns="177800" bIns="177800" anchor="t"/>
          <a:lstStyle/>
          <a:p>
            <a:pPr algn="l">
              <a:lnSpc>
                <a:spcPct val="155000"/>
              </a:lnSpc>
            </a:pPr>
            <a:r>
              <a:rPr sz="1839" b="0" i="0">
                <a:solidFill>
                  <a:srgbClr val="003040"/>
                </a:solidFill>
                <a:latin typeface="Roboto"/>
              </a:rPr>
              <a:t>Gestió del canvi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3400" y="6019800"/>
            <a:ext cx="5689600" cy="730448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803400" y="6019800"/>
            <a:ext cx="5689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03400" y="6019800"/>
            <a:ext cx="5765800" cy="730448"/>
          </a:xfrm>
          <a:prstGeom prst="rect">
            <a:avLst/>
          </a:prstGeom>
          <a:noFill/>
        </p:spPr>
        <p:txBody>
          <a:bodyPr wrap="none" lIns="0" rIns="0" tIns="177800" bIns="177800" anchor="t"/>
          <a:lstStyle/>
          <a:p>
            <a:pPr algn="l">
              <a:lnSpc>
                <a:spcPct val="155000"/>
              </a:lnSpc>
            </a:pPr>
            <a:r>
              <a:rPr sz="1839" b="0" i="0">
                <a:solidFill>
                  <a:srgbClr val="003040"/>
                </a:solidFill>
                <a:latin typeface="Roboto"/>
              </a:rPr>
              <a:t>Configuració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6600" y="2876352"/>
            <a:ext cx="6502400" cy="4381897"/>
          </a:xfrm>
          <a:prstGeom prst="roundRect">
            <a:avLst>
              <a:gd name="adj" fmla="val 4057"/>
            </a:avLst>
          </a:prstGeom>
          <a:solidFill>
            <a:srgbClr val="AA9944"/>
          </a:solidFill>
          <a:effectLst/>
          <a:ln>
            <a:noFill/>
          </a:ln>
          <a:effectLst>
            <a:outerShdw blurRad="203200" dist="25400" dir="5400000" algn="ctr" rotWithShape="0">
              <a:srgbClr val="00304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56600" y="2927152"/>
            <a:ext cx="6502400" cy="4331097"/>
          </a:xfrm>
          <a:prstGeom prst="roundRect">
            <a:avLst>
              <a:gd name="adj" fmla="val 4105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763000" y="3435152"/>
            <a:ext cx="914400" cy="914400"/>
          </a:xfrm>
          <a:prstGeom prst="ellipse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075" y="3701852"/>
            <a:ext cx="476250" cy="381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63000" y="4603552"/>
            <a:ext cx="5765800" cy="381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2560" b="1" i="0">
                <a:solidFill>
                  <a:srgbClr val="AA9944"/>
                </a:solidFill>
                <a:latin typeface="Roboto"/>
              </a:rPr>
              <a:t>Vessant tècnica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63000" y="5289352"/>
            <a:ext cx="5689600" cy="730448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763000" y="5289352"/>
            <a:ext cx="5689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763000" y="5289352"/>
            <a:ext cx="5765800" cy="730448"/>
          </a:xfrm>
          <a:prstGeom prst="rect">
            <a:avLst/>
          </a:prstGeom>
          <a:noFill/>
        </p:spPr>
        <p:txBody>
          <a:bodyPr wrap="none" lIns="0" rIns="0" tIns="177800" bIns="177800" anchor="t"/>
          <a:lstStyle/>
          <a:p>
            <a:pPr algn="l">
              <a:lnSpc>
                <a:spcPct val="155000"/>
              </a:lnSpc>
            </a:pPr>
            <a:r>
              <a:rPr sz="1839" b="0" i="0">
                <a:solidFill>
                  <a:srgbClr val="003040"/>
                </a:solidFill>
                <a:latin typeface="Roboto"/>
              </a:rPr>
              <a:t>Projectes Factory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3000" y="6019800"/>
            <a:ext cx="5689600" cy="730448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763000" y="6019800"/>
            <a:ext cx="5689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63000" y="6019800"/>
            <a:ext cx="5765800" cy="730448"/>
          </a:xfrm>
          <a:prstGeom prst="rect">
            <a:avLst/>
          </a:prstGeom>
          <a:noFill/>
        </p:spPr>
        <p:txBody>
          <a:bodyPr wrap="none" lIns="0" rIns="0" tIns="177800" bIns="177800" anchor="t"/>
          <a:lstStyle/>
          <a:p>
            <a:pPr algn="l">
              <a:lnSpc>
                <a:spcPct val="155000"/>
              </a:lnSpc>
            </a:pPr>
            <a:r>
              <a:rPr sz="1839" b="0" i="0">
                <a:solidFill>
                  <a:srgbClr val="003040"/>
                </a:solidFill>
                <a:latin typeface="Roboto"/>
              </a:rPr>
              <a:t>Migració de dades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Fases i fites del projecte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800" y="3126780"/>
            <a:ext cx="3022600" cy="4191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352800" y="3533180"/>
            <a:ext cx="3022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14700" y="3126780"/>
            <a:ext cx="3098800" cy="419100"/>
          </a:xfrm>
          <a:prstGeom prst="rect">
            <a:avLst/>
          </a:prstGeom>
          <a:noFill/>
        </p:spPr>
        <p:txBody>
          <a:bodyPr wrap="none" lIns="152400" rIns="152400" tIns="0" bIns="203200" anchor="t"/>
          <a:lstStyle/>
          <a:p>
            <a:pPr algn="ctr">
              <a:lnSpc>
                <a:spcPct val="120000"/>
              </a:lnSpc>
            </a:pPr>
            <a:r>
              <a:rPr sz="1360" b="1" i="0" spc="82">
                <a:solidFill>
                  <a:srgbClr val="5A7A84"/>
                </a:solidFill>
                <a:latin typeface="Roboto"/>
              </a:rPr>
              <a:t>1 · DISSENY I TRANSICIÓ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3126780"/>
            <a:ext cx="3022600" cy="4191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375400" y="3533180"/>
            <a:ext cx="3022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37300" y="3126780"/>
            <a:ext cx="3098800" cy="419100"/>
          </a:xfrm>
          <a:prstGeom prst="rect">
            <a:avLst/>
          </a:prstGeom>
          <a:noFill/>
        </p:spPr>
        <p:txBody>
          <a:bodyPr wrap="none" lIns="152400" rIns="152400" tIns="0" bIns="203200" anchor="t"/>
          <a:lstStyle/>
          <a:p>
            <a:pPr algn="ctr">
              <a:lnSpc>
                <a:spcPct val="120000"/>
              </a:lnSpc>
            </a:pPr>
            <a:r>
              <a:rPr sz="1360" b="1" i="0" spc="82">
                <a:solidFill>
                  <a:srgbClr val="5A7A84"/>
                </a:solidFill>
                <a:latin typeface="Roboto"/>
              </a:rPr>
              <a:t>2 · ACTIVACIÓ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0" y="3126780"/>
            <a:ext cx="3022600" cy="4191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398000" y="3533180"/>
            <a:ext cx="3022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59900" y="3126780"/>
            <a:ext cx="3098800" cy="419100"/>
          </a:xfrm>
          <a:prstGeom prst="rect">
            <a:avLst/>
          </a:prstGeom>
          <a:noFill/>
        </p:spPr>
        <p:txBody>
          <a:bodyPr wrap="none" lIns="152400" rIns="152400" tIns="0" bIns="203200" anchor="t"/>
          <a:lstStyle/>
          <a:p>
            <a:pPr algn="ctr">
              <a:lnSpc>
                <a:spcPct val="120000"/>
              </a:lnSpc>
            </a:pPr>
            <a:r>
              <a:rPr sz="1360" b="1" i="0" spc="82">
                <a:solidFill>
                  <a:srgbClr val="5A7A84"/>
                </a:solidFill>
                <a:latin typeface="Roboto"/>
              </a:rPr>
              <a:t>3 · DESPLEGAMENT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420600" y="3126780"/>
            <a:ext cx="3022600" cy="4191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420600" y="3533180"/>
            <a:ext cx="30226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382500" y="3126780"/>
            <a:ext cx="3098800" cy="419100"/>
          </a:xfrm>
          <a:prstGeom prst="rect">
            <a:avLst/>
          </a:prstGeom>
          <a:noFill/>
        </p:spPr>
        <p:txBody>
          <a:bodyPr wrap="none" lIns="152400" rIns="152400" tIns="0" bIns="203200" anchor="t"/>
          <a:lstStyle/>
          <a:p>
            <a:pPr algn="ctr">
              <a:lnSpc>
                <a:spcPct val="120000"/>
              </a:lnSpc>
            </a:pPr>
            <a:r>
              <a:rPr sz="1360" b="1" i="0" spc="82">
                <a:solidFill>
                  <a:srgbClr val="5A7A84"/>
                </a:solidFill>
                <a:latin typeface="Roboto"/>
              </a:rPr>
              <a:t>4 · CONSOLIDACIÓ</a:t>
            </a:r>
          </a:p>
        </p:txBody>
      </p:sp>
      <p:grpSp>
        <p:nvGrpSpPr>
          <p:cNvPr id="19" name="Fase 1"/>
          <p:cNvGrpSpPr/>
          <p:nvPr/>
        </p:nvGrpSpPr>
        <p:grpSpPr>
          <a:xfrm>
            <a:off x="812800" y="3939580"/>
            <a:ext cx="14516100" cy="975320"/>
            <a:chOff x="812800" y="3939580"/>
            <a:chExt cx="14516100" cy="975320"/>
          </a:xfrm>
        </p:grpSpPr>
        <p:sp>
          <p:nvSpPr>
            <p:cNvPr id="20" name="Rectangle 19"/>
            <p:cNvSpPr/>
            <p:nvPr/>
          </p:nvSpPr>
          <p:spPr>
            <a:xfrm>
              <a:off x="4864100" y="4091980"/>
              <a:ext cx="9067800" cy="25400"/>
            </a:xfrm>
            <a:prstGeom prst="rect">
              <a:avLst/>
            </a:prstGeom>
            <a:solidFill>
              <a:srgbClr val="7FB927">
                <a:alpha val="35000"/>
              </a:srgbClr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1295400" y="4003080"/>
              <a:ext cx="1790303" cy="2667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>
                <a:lnSpc>
                  <a:spcPct val="120000"/>
                </a:lnSpc>
              </a:pPr>
              <a:r>
                <a:rPr sz="1839" b="1" i="0">
                  <a:solidFill>
                    <a:srgbClr val="7FB927"/>
                  </a:solidFill>
                  <a:latin typeface="Roboto"/>
                </a:rPr>
                <a:t>Vessant jurídica</a:t>
              </a:r>
            </a:p>
          </p:txBody>
        </p:sp>
        <p:pic>
          <p:nvPicPr>
            <p:cNvPr id="22" name="Picture 21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2800" y="4004270"/>
              <a:ext cx="330200" cy="264120"/>
            </a:xfrm>
            <a:prstGeom prst="rect">
              <a:avLst/>
            </a:prstGeom>
          </p:spPr>
        </p:pic>
        <p:sp>
          <p:nvSpPr>
            <p:cNvPr id="23" name="Oval 22"/>
            <p:cNvSpPr/>
            <p:nvPr/>
          </p:nvSpPr>
          <p:spPr>
            <a:xfrm>
              <a:off x="4699000" y="393958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4" name="Oval 23"/>
            <p:cNvSpPr/>
            <p:nvPr/>
          </p:nvSpPr>
          <p:spPr>
            <a:xfrm>
              <a:off x="4762500" y="4003080"/>
              <a:ext cx="203200" cy="203200"/>
            </a:xfrm>
            <a:prstGeom prst="ellipse">
              <a:avLst/>
            </a:prstGeom>
            <a:solidFill>
              <a:srgbClr val="7FB927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5" name="TextBox 24"/>
            <p:cNvSpPr txBox="1"/>
            <p:nvPr/>
          </p:nvSpPr>
          <p:spPr>
            <a:xfrm>
              <a:off x="3467100" y="440948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Presa d'acords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67100" y="472440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Capacitació a l'Acadèmia Gestiona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7721600" y="393958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Oval 27"/>
            <p:cNvSpPr/>
            <p:nvPr/>
          </p:nvSpPr>
          <p:spPr>
            <a:xfrm>
              <a:off x="7785100" y="4003080"/>
              <a:ext cx="203200" cy="203200"/>
            </a:xfrm>
            <a:prstGeom prst="ellipse">
              <a:avLst/>
            </a:prstGeom>
            <a:solidFill>
              <a:srgbClr val="7FB927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TextBox 28"/>
            <p:cNvSpPr txBox="1"/>
            <p:nvPr/>
          </p:nvSpPr>
          <p:spPr>
            <a:xfrm>
              <a:off x="6489700" y="440948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Procés de ratificacions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89700" y="472440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Activació TVF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10744200" y="393958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Oval 31"/>
            <p:cNvSpPr/>
            <p:nvPr/>
          </p:nvSpPr>
          <p:spPr>
            <a:xfrm>
              <a:off x="10807700" y="4003080"/>
              <a:ext cx="203200" cy="203200"/>
            </a:xfrm>
            <a:prstGeom prst="ellipse">
              <a:avLst/>
            </a:prstGeom>
            <a:solidFill>
              <a:srgbClr val="7FB927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TextBox 32"/>
            <p:cNvSpPr txBox="1"/>
            <p:nvPr/>
          </p:nvSpPr>
          <p:spPr>
            <a:xfrm>
              <a:off x="9512300" y="440948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Arrencada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512300" y="472440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Registre · Seu · Gestor d'expedients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3766800" y="393958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Oval 35"/>
            <p:cNvSpPr/>
            <p:nvPr/>
          </p:nvSpPr>
          <p:spPr>
            <a:xfrm>
              <a:off x="13830300" y="4003080"/>
              <a:ext cx="203200" cy="203200"/>
            </a:xfrm>
            <a:prstGeom prst="ellipse">
              <a:avLst/>
            </a:prstGeom>
            <a:solidFill>
              <a:srgbClr val="7FB927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TextBox 36"/>
            <p:cNvSpPr txBox="1"/>
            <p:nvPr/>
          </p:nvSpPr>
          <p:spPr>
            <a:xfrm>
              <a:off x="12534900" y="440948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Operació ordinària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534900" y="472440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Analítica de dades</a:t>
              </a:r>
            </a:p>
          </p:txBody>
        </p:sp>
      </p:grpSp>
      <p:grpSp>
        <p:nvGrpSpPr>
          <p:cNvPr id="39" name="Fase 2"/>
          <p:cNvGrpSpPr/>
          <p:nvPr/>
        </p:nvGrpSpPr>
        <p:grpSpPr>
          <a:xfrm>
            <a:off x="812800" y="5270500"/>
            <a:ext cx="14630400" cy="1737320"/>
            <a:chOff x="812800" y="5270500"/>
            <a:chExt cx="14630400" cy="1737320"/>
          </a:xfrm>
        </p:grpSpPr>
        <p:sp>
          <p:nvSpPr>
            <p:cNvPr id="40" name="Rectangle 39"/>
            <p:cNvSpPr/>
            <p:nvPr/>
          </p:nvSpPr>
          <p:spPr>
            <a:xfrm>
              <a:off x="812800" y="5270500"/>
              <a:ext cx="14630400" cy="1737320"/>
            </a:xfrm>
            <a:prstGeom prst="rect">
              <a:avLst/>
            </a:prstGeom>
            <a:noFill/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Rectangle 40"/>
            <p:cNvSpPr/>
            <p:nvPr/>
          </p:nvSpPr>
          <p:spPr>
            <a:xfrm>
              <a:off x="812800" y="5270500"/>
              <a:ext cx="14630400" cy="12700"/>
            </a:xfrm>
            <a:prstGeom prst="rect">
              <a:avLst/>
            </a:prstGeom>
            <a:solidFill>
              <a:srgbClr val="D4DEE3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Rectangle 41"/>
            <p:cNvSpPr/>
            <p:nvPr/>
          </p:nvSpPr>
          <p:spPr>
            <a:xfrm>
              <a:off x="4864100" y="5829300"/>
              <a:ext cx="9067800" cy="25400"/>
            </a:xfrm>
            <a:prstGeom prst="rect">
              <a:avLst/>
            </a:prstGeom>
            <a:solidFill>
              <a:srgbClr val="AA9944">
                <a:alpha val="35000"/>
              </a:srgbClr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TextBox 42"/>
            <p:cNvSpPr txBox="1"/>
            <p:nvPr/>
          </p:nvSpPr>
          <p:spPr>
            <a:xfrm>
              <a:off x="1295400" y="5740400"/>
              <a:ext cx="1775817" cy="26670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>
                <a:lnSpc>
                  <a:spcPct val="120000"/>
                </a:lnSpc>
              </a:pPr>
              <a:r>
                <a:rPr sz="1839" b="1" i="0">
                  <a:solidFill>
                    <a:srgbClr val="AA9944"/>
                  </a:solidFill>
                  <a:latin typeface="Roboto"/>
                </a:rPr>
                <a:t>Vessant tècnica</a:t>
              </a:r>
            </a:p>
          </p:txBody>
        </p:sp>
        <p:pic>
          <p:nvPicPr>
            <p:cNvPr id="44" name="Picture 43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800" y="5741591"/>
              <a:ext cx="330200" cy="264120"/>
            </a:xfrm>
            <a:prstGeom prst="rect">
              <a:avLst/>
            </a:prstGeom>
          </p:spPr>
        </p:pic>
        <p:sp>
          <p:nvSpPr>
            <p:cNvPr id="45" name="Oval 44"/>
            <p:cNvSpPr/>
            <p:nvPr/>
          </p:nvSpPr>
          <p:spPr>
            <a:xfrm>
              <a:off x="4699000" y="567690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Oval 45"/>
            <p:cNvSpPr/>
            <p:nvPr/>
          </p:nvSpPr>
          <p:spPr>
            <a:xfrm>
              <a:off x="4762500" y="5740400"/>
              <a:ext cx="203200" cy="203200"/>
            </a:xfrm>
            <a:prstGeom prst="ellipse">
              <a:avLst/>
            </a:prstGeom>
            <a:solidFill>
              <a:srgbClr val="AA9944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TextBox 46"/>
            <p:cNvSpPr txBox="1"/>
            <p:nvPr/>
          </p:nvSpPr>
          <p:spPr>
            <a:xfrm>
              <a:off x="3467100" y="614680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Migració d'expedients vius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467100" y="646172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Alta prioritat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7721600" y="567690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Oval 49"/>
            <p:cNvSpPr/>
            <p:nvPr/>
          </p:nvSpPr>
          <p:spPr>
            <a:xfrm>
              <a:off x="7785100" y="5740400"/>
              <a:ext cx="203200" cy="203200"/>
            </a:xfrm>
            <a:prstGeom prst="ellipse">
              <a:avLst/>
            </a:prstGeom>
            <a:solidFill>
              <a:srgbClr val="AA9944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1" name="TextBox 50"/>
            <p:cNvSpPr txBox="1"/>
            <p:nvPr/>
          </p:nvSpPr>
          <p:spPr>
            <a:xfrm>
              <a:off x="6489700" y="614680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Activació dels serveis AOC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489700" y="646172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Adaptació PICA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10744200" y="567690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4" name="Oval 53"/>
            <p:cNvSpPr/>
            <p:nvPr/>
          </p:nvSpPr>
          <p:spPr>
            <a:xfrm>
              <a:off x="10807700" y="5740400"/>
              <a:ext cx="203200" cy="203200"/>
            </a:xfrm>
            <a:prstGeom prst="ellipse">
              <a:avLst/>
            </a:prstGeom>
            <a:solidFill>
              <a:srgbClr val="AA9944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TextBox 54"/>
            <p:cNvSpPr txBox="1"/>
            <p:nvPr/>
          </p:nvSpPr>
          <p:spPr>
            <a:xfrm>
              <a:off x="9512300" y="614680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Evolutius de producte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512300" y="646172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Aranès · Nou frontweb · Millores</a:t>
              </a:r>
            </a:p>
          </p:txBody>
        </p:sp>
        <p:sp>
          <p:nvSpPr>
            <p:cNvPr id="57" name="Oval 56"/>
            <p:cNvSpPr/>
            <p:nvPr/>
          </p:nvSpPr>
          <p:spPr>
            <a:xfrm>
              <a:off x="13766800" y="5676900"/>
              <a:ext cx="330200" cy="330200"/>
            </a:xfrm>
            <a:prstGeom prst="ellipse">
              <a:avLst/>
            </a:prstGeom>
            <a:solidFill>
              <a:srgbClr val="FFFFFF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8" name="Oval 57"/>
            <p:cNvSpPr/>
            <p:nvPr/>
          </p:nvSpPr>
          <p:spPr>
            <a:xfrm>
              <a:off x="13830300" y="5740400"/>
              <a:ext cx="203200" cy="203200"/>
            </a:xfrm>
            <a:prstGeom prst="ellipse">
              <a:avLst/>
            </a:prstGeom>
            <a:solidFill>
              <a:srgbClr val="AA9944"/>
            </a:solidFill>
            <a:effectLst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9" name="TextBox 58"/>
            <p:cNvSpPr txBox="1"/>
            <p:nvPr/>
          </p:nvSpPr>
          <p:spPr>
            <a:xfrm>
              <a:off x="12534900" y="6146800"/>
              <a:ext cx="2794000" cy="26412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30000"/>
                </a:lnSpc>
              </a:pPr>
              <a:r>
                <a:rPr sz="1600" b="1" i="0">
                  <a:solidFill>
                    <a:srgbClr val="003040"/>
                  </a:solidFill>
                  <a:latin typeface="Roboto"/>
                </a:rPr>
                <a:t>Projecte Gestiona Factory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2534900" y="646172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>
                <a:lnSpc>
                  <a:spcPct val="120000"/>
                </a:lnSpc>
              </a:pPr>
              <a:r>
                <a:rPr sz="1312" b="0" i="0">
                  <a:solidFill>
                    <a:srgbClr val="3D5C66"/>
                  </a:solidFill>
                  <a:latin typeface="Roboto"/>
                </a:rPr>
                <a:t>SARCAT · Cens DPD · Publicació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167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9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Dues opcions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000" y="2064742"/>
            <a:ext cx="6502400" cy="6005116"/>
          </a:xfrm>
          <a:prstGeom prst="roundRect">
            <a:avLst>
              <a:gd name="adj" fmla="val 2960"/>
            </a:avLst>
          </a:prstGeom>
          <a:solidFill>
            <a:srgbClr val="7FB927"/>
          </a:solidFill>
          <a:effectLst/>
          <a:ln>
            <a:noFill/>
          </a:ln>
          <a:effectLst>
            <a:outerShdw blurRad="203200" dist="25400" dir="5400000" algn="ctr" rotWithShape="0">
              <a:srgbClr val="00304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397000" y="2115542"/>
            <a:ext cx="6502400" cy="5954316"/>
          </a:xfrm>
          <a:prstGeom prst="roundRect">
            <a:avLst>
              <a:gd name="adj" fmla="val 2986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905000" y="2623542"/>
            <a:ext cx="5562600" cy="355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03040"/>
                </a:solidFill>
                <a:latin typeface="Roboto"/>
              </a:rPr>
              <a:t>Gestiona + Anexa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3106142"/>
            <a:ext cx="5511800" cy="8286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D5C66"/>
                </a:solidFill>
                <a:latin typeface="Roboto"/>
              </a:rPr>
              <a:t>Traslladem la tramitació administrativa a Gestiona i mantenim algunes funcionalitats del projecte Factory a Anexa.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4239617"/>
            <a:ext cx="5562600" cy="7314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760" b="1" i="0">
                <a:solidFill>
                  <a:srgbClr val="7FB927"/>
                </a:solidFill>
                <a:latin typeface="Roboto"/>
              </a:rPr>
              <a:t>1T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047258"/>
            <a:ext cx="55626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520" b="0" i="0">
                <a:solidFill>
                  <a:srgbClr val="3D5C66"/>
                </a:solidFill>
                <a:latin typeface="Roboto"/>
              </a:rPr>
              <a:t>Arrencada · 28 de febrer de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5000" y="56314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905000" y="56314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05000" y="5771158"/>
            <a:ext cx="143708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Inici del projecte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2097" y="5771158"/>
            <a:ext cx="1409303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Novembre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61267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905000" y="61267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905000" y="6266458"/>
            <a:ext cx="2654895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Migració d'expedients i registre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1055" y="6266458"/>
            <a:ext cx="1810345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28 de febrer de 2027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66220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905000" y="66220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905000" y="6761758"/>
            <a:ext cx="186769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Evolutius de producte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1055" y="6761758"/>
            <a:ext cx="1810345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28 de febrer de 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71173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905000" y="71173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05000" y="7257058"/>
            <a:ext cx="221734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Projecte Gestiona Factory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1541" y="7257058"/>
            <a:ext cx="2049859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Gener – setembre 2027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6600" y="2064742"/>
            <a:ext cx="6502400" cy="6005116"/>
          </a:xfrm>
          <a:prstGeom prst="roundRect">
            <a:avLst>
              <a:gd name="adj" fmla="val 2960"/>
            </a:avLst>
          </a:prstGeom>
          <a:solidFill>
            <a:srgbClr val="7FB927"/>
          </a:solidFill>
          <a:effectLst/>
          <a:ln>
            <a:noFill/>
          </a:ln>
          <a:effectLst>
            <a:outerShdw blurRad="203200" dist="25400" dir="5400000" algn="ctr" rotWithShape="0">
              <a:srgbClr val="00304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356600" y="2115542"/>
            <a:ext cx="6502400" cy="5954316"/>
          </a:xfrm>
          <a:prstGeom prst="roundRect">
            <a:avLst>
              <a:gd name="adj" fmla="val 2986"/>
            </a:avLst>
          </a:prstGeom>
          <a:solidFill>
            <a:srgbClr val="ECF0F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64600" y="2623542"/>
            <a:ext cx="5562600" cy="355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03040"/>
                </a:solidFill>
                <a:latin typeface="Roboto"/>
              </a:rPr>
              <a:t>Gestiona integrat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4600" y="3106142"/>
            <a:ext cx="5511800" cy="8286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D5C66"/>
                </a:solidFill>
                <a:latin typeface="Roboto"/>
              </a:rPr>
              <a:t>Condicionem la data d'arrencada al desenvolupament d'un projecte de Gestiona integrat.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4600" y="4239617"/>
            <a:ext cx="5562600" cy="7314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760" b="1" i="0">
                <a:solidFill>
                  <a:srgbClr val="7FB927"/>
                </a:solidFill>
                <a:latin typeface="Roboto"/>
              </a:rPr>
              <a:t>3T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4600" y="5047258"/>
            <a:ext cx="55626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520" b="0" i="0">
                <a:solidFill>
                  <a:srgbClr val="3D5C66"/>
                </a:solidFill>
                <a:latin typeface="Roboto"/>
              </a:rPr>
              <a:t>Arrencada · 17 de setembre de 2027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4600" y="56314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864600" y="56314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4600" y="5771158"/>
            <a:ext cx="143708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Inici del projecte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05433" y="5771158"/>
            <a:ext cx="1045567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Gener 2027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4600" y="61267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864600" y="61267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864600" y="6266458"/>
            <a:ext cx="188714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Migració d'expedients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49150" y="6266458"/>
            <a:ext cx="210185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17 de setembre de 2027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4600" y="66220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864600" y="66220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864600" y="6761758"/>
            <a:ext cx="1867694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Evolutius de producte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49150" y="6761758"/>
            <a:ext cx="210185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17 de setembre de 2027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4600" y="7117358"/>
            <a:ext cx="5486400" cy="4953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864600" y="7117358"/>
            <a:ext cx="5486400" cy="12700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864600" y="7257058"/>
            <a:ext cx="2217341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0000"/>
              </a:lnSpc>
            </a:pPr>
            <a:r>
              <a:rPr sz="1472" b="0" i="0">
                <a:solidFill>
                  <a:srgbClr val="3D5C66"/>
                </a:solidFill>
                <a:latin typeface="Roboto"/>
              </a:rPr>
              <a:t>Projecte Gestiona Factory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01141" y="7257058"/>
            <a:ext cx="2049859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0000"/>
              </a:lnSpc>
            </a:pPr>
            <a:r>
              <a:rPr sz="1472" b="0" i="0">
                <a:solidFill>
                  <a:srgbClr val="003040"/>
                </a:solidFill>
                <a:latin typeface="Roboto"/>
              </a:rPr>
              <a:t>Gener – setembre 2027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Gestiona + Anexa · Arrencada el 28 de febrer de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622800" y="2260600"/>
            <a:ext cx="355600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62280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978400" y="2260600"/>
            <a:ext cx="871934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97840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50334" y="2260600"/>
            <a:ext cx="872133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850334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722467" y="2260600"/>
            <a:ext cx="871934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722467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594402" y="2260600"/>
            <a:ext cx="1744266" cy="5244902"/>
          </a:xfrm>
          <a:prstGeom prst="rect">
            <a:avLst/>
          </a:prstGeom>
          <a:solidFill>
            <a:srgbClr val="7FB927">
              <a:alpha val="12000"/>
            </a:srgbClr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594402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338667" y="2260600"/>
            <a:ext cx="871934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338667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210602" y="2260600"/>
            <a:ext cx="872133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210602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082734" y="2260600"/>
            <a:ext cx="872133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082734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954867" y="2260600"/>
            <a:ext cx="871934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954867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2826802" y="2260600"/>
            <a:ext cx="872133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2826802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698934" y="2260600"/>
            <a:ext cx="872133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3698934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4571067" y="2260600"/>
            <a:ext cx="871934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4571067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5430302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12800" y="2260600"/>
            <a:ext cx="14630400" cy="3810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12800" y="2616200"/>
            <a:ext cx="14630400" cy="25400"/>
          </a:xfrm>
          <a:prstGeom prst="rect">
            <a:avLst/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940300" y="2349500"/>
            <a:ext cx="948134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NOV.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2234" y="2349500"/>
            <a:ext cx="948333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DES.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4367" y="2349500"/>
            <a:ext cx="948134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GEN.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6302" y="2349500"/>
            <a:ext cx="1820466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5A8A17"/>
                </a:solidFill>
                <a:latin typeface="Roboto"/>
              </a:rPr>
              <a:t>FEBRER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0567" y="2349500"/>
            <a:ext cx="948134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MARÇ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2502" y="2349500"/>
            <a:ext cx="948333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ABR.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44634" y="2349500"/>
            <a:ext cx="948333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MAIG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16767" y="2349500"/>
            <a:ext cx="948134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JUNY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88702" y="2349500"/>
            <a:ext cx="948333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JUL.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660834" y="2349500"/>
            <a:ext cx="948333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AG.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532967" y="2349500"/>
            <a:ext cx="948134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SET.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800" y="2641600"/>
            <a:ext cx="14706600" cy="317500"/>
          </a:xfrm>
          <a:prstGeom prst="rect">
            <a:avLst/>
          </a:prstGeom>
          <a:noFill/>
        </p:spPr>
        <p:txBody>
          <a:bodyPr wrap="none" lIns="0" rIns="0" tIns="101600" bIns="38100" anchor="t"/>
          <a:lstStyle/>
          <a:p>
            <a:pPr algn="l">
              <a:lnSpc>
                <a:spcPct val="120000"/>
              </a:lnSpc>
            </a:pPr>
            <a:r>
              <a:rPr sz="1150" b="1" i="0" spc="60">
                <a:solidFill>
                  <a:srgbClr val="5A8A17"/>
                </a:solidFill>
                <a:latin typeface="Roboto"/>
              </a:rPr>
              <a:t>VESSANT JURÍDICA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2800" y="3031530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Presa d'acords</a:t>
            </a:r>
          </a:p>
        </p:txBody>
      </p:sp>
      <p:sp>
        <p:nvSpPr>
          <p:cNvPr id="47" name="Rounded Rectangle 46"/>
          <p:cNvSpPr/>
          <p:nvPr/>
        </p:nvSpPr>
        <p:spPr>
          <a:xfrm rot="2700000">
            <a:off x="4718050" y="3048000"/>
            <a:ext cx="165100" cy="165100"/>
          </a:xfrm>
          <a:prstGeom prst="roundRect">
            <a:avLst>
              <a:gd name="adj" fmla="val 15384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2800" y="3374430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Formació en línia bàsica de Gestiona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47867" y="3390900"/>
            <a:ext cx="821134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2800" y="3717330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Procés de ratificacions</a:t>
            </a:r>
          </a:p>
        </p:txBody>
      </p:sp>
      <p:sp>
        <p:nvSpPr>
          <p:cNvPr id="51" name="Rounded Rectangle 50"/>
          <p:cNvSpPr/>
          <p:nvPr/>
        </p:nvSpPr>
        <p:spPr>
          <a:xfrm rot="2700000">
            <a:off x="9038034" y="3733800"/>
            <a:ext cx="165100" cy="165100"/>
          </a:xfrm>
          <a:prstGeom prst="roundRect">
            <a:avLst>
              <a:gd name="adj" fmla="val 15384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2800" y="3987800"/>
            <a:ext cx="3835400" cy="398661"/>
          </a:xfrm>
          <a:prstGeom prst="rect">
            <a:avLst/>
          </a:prstGeom>
          <a:noFill/>
        </p:spPr>
        <p:txBody>
          <a:bodyPr wrap="squar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Arrencada · Registre, Seu electrònica i Gestor d'expedients</a:t>
            </a:r>
            <a:r>
              <a:rPr sz="1150" b="0" i="0">
                <a:solidFill>
                  <a:srgbClr val="5A7A84"/>
                </a:solidFill>
                <a:latin typeface="Roboto"/>
              </a:rPr>
              <a:t> · formació presencial i suport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28100" y="4104481"/>
            <a:ext cx="1257300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2800" y="44588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Arrencada · Analítica de dades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64067" y="4475361"/>
            <a:ext cx="821134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12800" y="48017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Certificació Configuració avançada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64067" y="4818261"/>
            <a:ext cx="4309467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12800" y="51446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Certificació Analítica de dades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108134" y="5161161"/>
            <a:ext cx="2565400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12800" y="5415161"/>
            <a:ext cx="14706600" cy="317500"/>
          </a:xfrm>
          <a:prstGeom prst="rect">
            <a:avLst/>
          </a:prstGeom>
          <a:noFill/>
        </p:spPr>
        <p:txBody>
          <a:bodyPr wrap="none" lIns="0" rIns="0" tIns="101600" bIns="38100" anchor="t"/>
          <a:lstStyle/>
          <a:p>
            <a:pPr algn="l">
              <a:lnSpc>
                <a:spcPct val="120000"/>
              </a:lnSpc>
            </a:pPr>
            <a:r>
              <a:rPr sz="1150" b="1" i="0" spc="60">
                <a:solidFill>
                  <a:srgbClr val="AA9944"/>
                </a:solidFill>
                <a:latin typeface="Roboto"/>
              </a:rPr>
              <a:t>VESSANT TÈCNICA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2800" y="58050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Migració d'expedients i registre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03800" y="5821561"/>
            <a:ext cx="4309467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12800" y="61479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Evolutius de producte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03800" y="6164461"/>
            <a:ext cx="4309467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12800" y="6489502"/>
            <a:ext cx="3886200" cy="200620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Interoperabilitat AOC</a:t>
            </a:r>
            <a:r>
              <a:rPr sz="1150" b="0" i="0">
                <a:solidFill>
                  <a:srgbClr val="5A7A84"/>
                </a:solidFill>
                <a:latin typeface="Roboto"/>
              </a:rPr>
              <a:t> · altes i activació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875734" y="6507361"/>
            <a:ext cx="1693466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 rot="2700000">
            <a:off x="9038034" y="6507361"/>
            <a:ext cx="165100" cy="165100"/>
          </a:xfrm>
          <a:prstGeom prst="roundRect">
            <a:avLst>
              <a:gd name="adj" fmla="val 15384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12800" y="6761361"/>
            <a:ext cx="3835400" cy="401241"/>
          </a:xfrm>
          <a:prstGeom prst="rect">
            <a:avLst/>
          </a:prstGeom>
          <a:noFill/>
        </p:spPr>
        <p:txBody>
          <a:bodyPr wrap="squar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Projecte Gestiona Factory</a:t>
            </a:r>
            <a:r>
              <a:rPr sz="1150" b="0" i="0">
                <a:solidFill>
                  <a:srgbClr val="5A7A84"/>
                </a:solidFill>
                <a:latin typeface="Roboto"/>
              </a:rPr>
              <a:t> · SARCAT, Cens DPD, Publicació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47867" y="6879431"/>
            <a:ext cx="8669734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12800" y="723503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Certificació Developers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364067" y="7251502"/>
            <a:ext cx="4309467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604228" y="7683302"/>
            <a:ext cx="1228923" cy="1905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D5C66"/>
                </a:solidFill>
                <a:latin typeface="Roboto"/>
              </a:rPr>
              <a:t>Vessant jurídica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223228" y="7734102"/>
            <a:ext cx="279400" cy="889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3468152" y="7683302"/>
            <a:ext cx="1227733" cy="1905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D5C66"/>
                </a:solidFill>
                <a:latin typeface="Roboto"/>
              </a:rPr>
              <a:t>Vessant tècnica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087152" y="7734102"/>
            <a:ext cx="279400" cy="889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5178484" y="7683302"/>
            <a:ext cx="366316" cy="1905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D5C66"/>
                </a:solidFill>
                <a:latin typeface="Roboto"/>
              </a:rPr>
              <a:t>Fita</a:t>
            </a:r>
          </a:p>
        </p:txBody>
      </p:sp>
      <p:sp>
        <p:nvSpPr>
          <p:cNvPr id="77" name="Rounded Rectangle 76"/>
          <p:cNvSpPr/>
          <p:nvPr/>
        </p:nvSpPr>
        <p:spPr>
          <a:xfrm rot="2700000">
            <a:off x="14949884" y="7715052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2800" y="812800"/>
            <a:ext cx="14630400" cy="5334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2800" y="812800"/>
            <a:ext cx="63500" cy="533400"/>
          </a:xfrm>
          <a:prstGeom prst="rect">
            <a:avLst/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2800" y="812800"/>
            <a:ext cx="14706600" cy="533400"/>
          </a:xfrm>
          <a:prstGeom prst="rect">
            <a:avLst/>
          </a:prstGeom>
          <a:noFill/>
        </p:spPr>
        <p:txBody>
          <a:bodyPr wrap="none" lIns="254000" rIns="0" tIns="0" bIns="0" anchor="t"/>
          <a:lstStyle/>
          <a:p>
            <a:pPr algn="l">
              <a:lnSpc>
                <a:spcPct val="120000"/>
              </a:lnSpc>
            </a:pPr>
            <a:r>
              <a:rPr sz="3600" b="1" i="0" spc="-30">
                <a:solidFill>
                  <a:srgbClr val="003040"/>
                </a:solidFill>
                <a:latin typeface="Roboto"/>
              </a:rPr>
              <a:t>Gestiona integrat · Arrencada el 17 de setembre de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622800" y="2260600"/>
            <a:ext cx="355600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62280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978400" y="2260600"/>
            <a:ext cx="1046361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97840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024761" y="2260600"/>
            <a:ext cx="1046559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024761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071320" y="2260600"/>
            <a:ext cx="1046361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07132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17681" y="2260600"/>
            <a:ext cx="1046559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17681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164241" y="2260600"/>
            <a:ext cx="1046559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164241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210800" y="2260600"/>
            <a:ext cx="1046361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21080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257161" y="2260600"/>
            <a:ext cx="1046559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257161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303720" y="2260600"/>
            <a:ext cx="1046361" cy="5244902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230372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3350081" y="2260600"/>
            <a:ext cx="2093119" cy="5244902"/>
          </a:xfrm>
          <a:prstGeom prst="rect">
            <a:avLst/>
          </a:prstGeom>
          <a:solidFill>
            <a:srgbClr val="7FB927">
              <a:alpha val="12000"/>
            </a:srgbClr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3350081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5430500" y="2260600"/>
            <a:ext cx="12700" cy="5244902"/>
          </a:xfrm>
          <a:prstGeom prst="rect">
            <a:avLst/>
          </a:prstGeom>
          <a:solidFill>
            <a:srgbClr val="D4DEE3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12800" y="2260600"/>
            <a:ext cx="14630400" cy="381000"/>
          </a:xfrm>
          <a:prstGeom prst="rect">
            <a:avLst/>
          </a:prstGeom>
          <a:noFill/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12800" y="2616200"/>
            <a:ext cx="14630400" cy="25400"/>
          </a:xfrm>
          <a:prstGeom prst="rect">
            <a:avLst/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40300" y="2349500"/>
            <a:ext cx="1122561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GEN.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6661" y="2349500"/>
            <a:ext cx="1122759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FEBR.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3220" y="2349500"/>
            <a:ext cx="1122561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MARÇ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9581" y="2349500"/>
            <a:ext cx="1122759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ABR.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6141" y="2349500"/>
            <a:ext cx="1122759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MAIG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2700" y="2349500"/>
            <a:ext cx="1122561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JUNY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19061" y="2349500"/>
            <a:ext cx="1122759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JUL.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65620" y="2349500"/>
            <a:ext cx="1122561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3D5C66"/>
                </a:solidFill>
                <a:latin typeface="Roboto"/>
              </a:rPr>
              <a:t>AG.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11981" y="2349500"/>
            <a:ext cx="2169319" cy="1778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1150" b="1" i="0" spc="30">
                <a:solidFill>
                  <a:srgbClr val="5A8A17"/>
                </a:solidFill>
                <a:latin typeface="Roboto"/>
              </a:rPr>
              <a:t>SETEMBRE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800" y="2641600"/>
            <a:ext cx="14706600" cy="317500"/>
          </a:xfrm>
          <a:prstGeom prst="rect">
            <a:avLst/>
          </a:prstGeom>
          <a:noFill/>
        </p:spPr>
        <p:txBody>
          <a:bodyPr wrap="none" lIns="0" rIns="0" tIns="101600" bIns="38100" anchor="t"/>
          <a:lstStyle/>
          <a:p>
            <a:pPr algn="l">
              <a:lnSpc>
                <a:spcPct val="120000"/>
              </a:lnSpc>
            </a:pPr>
            <a:r>
              <a:rPr sz="1150" b="1" i="0" spc="60">
                <a:solidFill>
                  <a:srgbClr val="5A8A17"/>
                </a:solidFill>
                <a:latin typeface="Roboto"/>
              </a:rPr>
              <a:t>VESSANT JURÍDICA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3031530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Presa d'acords</a:t>
            </a:r>
          </a:p>
        </p:txBody>
      </p:sp>
      <p:sp>
        <p:nvSpPr>
          <p:cNvPr id="41" name="Rounded Rectangle 40"/>
          <p:cNvSpPr/>
          <p:nvPr/>
        </p:nvSpPr>
        <p:spPr>
          <a:xfrm rot="2700000">
            <a:off x="4718050" y="3048000"/>
            <a:ext cx="165100" cy="165100"/>
          </a:xfrm>
          <a:prstGeom prst="roundRect">
            <a:avLst>
              <a:gd name="adj" fmla="val 15384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2800" y="3374430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Formació en línia bàsica de Gestiona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329120" y="3390900"/>
            <a:ext cx="995561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2800" y="3717330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Procés de ratificacions</a:t>
            </a:r>
          </a:p>
        </p:txBody>
      </p:sp>
      <p:sp>
        <p:nvSpPr>
          <p:cNvPr id="45" name="Rounded Rectangle 44"/>
          <p:cNvSpPr/>
          <p:nvPr/>
        </p:nvSpPr>
        <p:spPr>
          <a:xfrm rot="2700000">
            <a:off x="14575631" y="3733800"/>
            <a:ext cx="165100" cy="165100"/>
          </a:xfrm>
          <a:prstGeom prst="roundRect">
            <a:avLst>
              <a:gd name="adj" fmla="val 15384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12800" y="3987800"/>
            <a:ext cx="3835400" cy="398661"/>
          </a:xfrm>
          <a:prstGeom prst="rect">
            <a:avLst/>
          </a:prstGeom>
          <a:noFill/>
        </p:spPr>
        <p:txBody>
          <a:bodyPr wrap="squar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Arrencada · Registre, Seu electrònica i Gestor d'expedients</a:t>
            </a:r>
            <a:r>
              <a:rPr sz="1150" b="0" i="0">
                <a:solidFill>
                  <a:srgbClr val="5A7A84"/>
                </a:solidFill>
                <a:latin typeface="Roboto"/>
              </a:rPr>
              <a:t> · formació presencial i suport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422041" y="4104481"/>
            <a:ext cx="995759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2800" y="44588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Arrencada · Analítica de dades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422041" y="4475361"/>
            <a:ext cx="995759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2800" y="48017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Certificació Configuració avançada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03800" y="4818261"/>
            <a:ext cx="6227961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14945320" y="4818261"/>
            <a:ext cx="472480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12800" y="51446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Certificació Analítica de dades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43081" y="5161161"/>
            <a:ext cx="4135239" cy="1651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12800" y="5415161"/>
            <a:ext cx="14706600" cy="317500"/>
          </a:xfrm>
          <a:prstGeom prst="rect">
            <a:avLst/>
          </a:prstGeom>
          <a:noFill/>
        </p:spPr>
        <p:txBody>
          <a:bodyPr wrap="none" lIns="0" rIns="0" tIns="101600" bIns="38100" anchor="t"/>
          <a:lstStyle/>
          <a:p>
            <a:pPr algn="l">
              <a:lnSpc>
                <a:spcPct val="120000"/>
              </a:lnSpc>
            </a:pPr>
            <a:r>
              <a:rPr sz="1150" b="1" i="0" spc="60">
                <a:solidFill>
                  <a:srgbClr val="AA9944"/>
                </a:solidFill>
                <a:latin typeface="Roboto"/>
              </a:rPr>
              <a:t>VESSANT TÈCNICA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800" y="58050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Migració d'expedients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282561" y="5821561"/>
            <a:ext cx="3611959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12800" y="614799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Evolutius de producte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03800" y="6164461"/>
            <a:ext cx="9890720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12800" y="6489502"/>
            <a:ext cx="3886200" cy="200620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Interoperabilitat AOC</a:t>
            </a:r>
            <a:r>
              <a:rPr sz="1150" b="0" i="0">
                <a:solidFill>
                  <a:srgbClr val="5A7A84"/>
                </a:solidFill>
                <a:latin typeface="Roboto"/>
              </a:rPr>
              <a:t> · altes i activació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282561" y="6507361"/>
            <a:ext cx="2042120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 rot="2700000">
            <a:off x="14575631" y="6507361"/>
            <a:ext cx="165100" cy="165100"/>
          </a:xfrm>
          <a:prstGeom prst="roundRect">
            <a:avLst>
              <a:gd name="adj" fmla="val 15384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12800" y="6761361"/>
            <a:ext cx="3835400" cy="401241"/>
          </a:xfrm>
          <a:prstGeom prst="rect">
            <a:avLst/>
          </a:prstGeom>
          <a:noFill/>
        </p:spPr>
        <p:txBody>
          <a:bodyPr wrap="squar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Projecte Gestiona Factory</a:t>
            </a:r>
            <a:r>
              <a:rPr sz="1150" b="0" i="0">
                <a:solidFill>
                  <a:srgbClr val="5A7A84"/>
                </a:solidFill>
                <a:latin typeface="Roboto"/>
              </a:rPr>
              <a:t> · SARCAT, Cens DPD, Publicació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03800" y="6879431"/>
            <a:ext cx="10414000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12800" y="7235031"/>
            <a:ext cx="3886200" cy="198041"/>
          </a:xfrm>
          <a:prstGeom prst="rect">
            <a:avLst/>
          </a:prstGeom>
          <a:noFill/>
        </p:spPr>
        <p:txBody>
          <a:bodyPr wrap="none" lIns="0" rIns="17780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3A44"/>
                </a:solidFill>
                <a:latin typeface="Roboto"/>
              </a:rPr>
              <a:t>Certificació Developers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03800" y="7251502"/>
            <a:ext cx="6227961" cy="1651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1604228" y="7683302"/>
            <a:ext cx="1228923" cy="1905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D5C66"/>
                </a:solidFill>
                <a:latin typeface="Roboto"/>
              </a:rPr>
              <a:t>Vessant jurídica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223228" y="7734102"/>
            <a:ext cx="279400" cy="889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3468152" y="7683302"/>
            <a:ext cx="1227733" cy="1905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D5C66"/>
                </a:solidFill>
                <a:latin typeface="Roboto"/>
              </a:rPr>
              <a:t>Vessant tècnica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087152" y="7734102"/>
            <a:ext cx="279400" cy="88900"/>
          </a:xfrm>
          <a:prstGeom prst="roundRect">
            <a:avLst>
              <a:gd name="adj" fmla="val 50000"/>
            </a:avLst>
          </a:prstGeom>
          <a:solidFill>
            <a:srgbClr val="AA9944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5178484" y="7683302"/>
            <a:ext cx="366316" cy="1905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D5C66"/>
                </a:solidFill>
                <a:latin typeface="Roboto"/>
              </a:rPr>
              <a:t>Fita</a:t>
            </a:r>
          </a:p>
        </p:txBody>
      </p:sp>
      <p:sp>
        <p:nvSpPr>
          <p:cNvPr id="72" name="Rounded Rectangle 71"/>
          <p:cNvSpPr/>
          <p:nvPr/>
        </p:nvSpPr>
        <p:spPr>
          <a:xfrm rot="2700000">
            <a:off x="14949884" y="7715052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446000" y="-1524000"/>
            <a:ext cx="5334000" cy="5334000"/>
          </a:xfrm>
          <a:prstGeom prst="roundRect">
            <a:avLst>
              <a:gd name="adj" fmla="val 11904"/>
            </a:avLst>
          </a:prstGeom>
          <a:gradFill rotWithShape="1">
            <a:gsLst>
              <a:gs pos="0">
                <a:srgbClr val="A8D165">
                  <a:alpha val="6000"/>
                </a:srgbClr>
              </a:gs>
              <a:gs pos="100000">
                <a:srgbClr val="7FB927">
                  <a:alpha val="6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-889000" y="5969000"/>
            <a:ext cx="4064000" cy="4064000"/>
          </a:xfrm>
          <a:prstGeom prst="roundRect">
            <a:avLst>
              <a:gd name="adj" fmla="val 15625"/>
            </a:avLst>
          </a:prstGeom>
          <a:gradFill rotWithShape="1">
            <a:gsLst>
              <a:gs pos="0">
                <a:srgbClr val="D2E8A8">
                  <a:alpha val="3000"/>
                </a:srgbClr>
              </a:gs>
              <a:gs pos="100000">
                <a:srgbClr val="5A8A17">
                  <a:alpha val="3000"/>
                </a:srgbClr>
              </a:gs>
            </a:gsLst>
            <a:path path="circle">
              <a:fillToRect l="50000" t="50000" r="50000" b="50000"/>
            </a:path>
          </a:gra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3040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637036" y="3930650"/>
            <a:ext cx="10981928" cy="774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0000"/>
              </a:lnSpc>
            </a:pPr>
            <a:r>
              <a:rPr sz="5200" b="1" i="0" spc="-50">
                <a:solidFill>
                  <a:srgbClr val="FFFFFF"/>
                </a:solidFill>
                <a:latin typeface="Roboto"/>
              </a:rPr>
              <a:t>T'acompanyem fins on vulguis arribar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0" y="506095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effectLst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-889000" y="5969000"/>
            <a:ext cx="4089400" cy="40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3A44"/>
                </a:solidFill>
                <a:latin typeface="Roboto"/>
              </a:rPr>
              <a:t>none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push dir="l"/>
      </p:transition>
    </mc:Choice>
    <mc:Fallback>
      <p:transition spd="slow">
        <p:push dir="l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