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8262" y="3644503"/>
            <a:ext cx="11039277" cy="8229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7999"/>
              </a:lnSpc>
            </a:pPr>
            <a:r>
              <a:rPr sz="6000" b="1" i="0" spc="-50">
                <a:solidFill>
                  <a:srgbClr val="003040"/>
                </a:solidFill>
                <a:latin typeface="Roboto"/>
              </a:rPr>
              <a:t>Proposta de migració a</a:t>
            </a:r>
            <a:r>
              <a:rPr sz="6000" b="1" i="0" spc="-50">
                <a:solidFill>
                  <a:srgbClr val="7FB927"/>
                </a:solidFill>
                <a:latin typeface="Roboto"/>
              </a:rPr>
              <a:t> Gestiona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0" y="4823023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85420" y="5077023"/>
            <a:ext cx="5084961" cy="2952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5000"/>
              </a:lnSpc>
            </a:pPr>
            <a:r>
              <a:rPr sz="1500" b="0" i="0">
                <a:solidFill>
                  <a:srgbClr val="3D5C66"/>
                </a:solidFill>
                <a:latin typeface="Roboto"/>
              </a:rPr>
              <a:t>Autoritat Catalana de Protecció de Dades · octubre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Punt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8411" y="3336925"/>
            <a:ext cx="6759178" cy="254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760" b="0" i="0" spc="70">
                <a:solidFill>
                  <a:srgbClr val="3D5C66"/>
                </a:solidFill>
                <a:latin typeface="Roboto"/>
              </a:rPr>
              <a:t>Compromís d'esPublico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3811" y="3844925"/>
            <a:ext cx="6708378" cy="1365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4480" b="0" i="0">
                <a:solidFill>
                  <a:srgbClr val="003040"/>
                </a:solidFill>
                <a:latin typeface="Roboto"/>
              </a:rPr>
              <a:t>Configurar el</a:t>
            </a:r>
            <a:r>
              <a:rPr sz="4480" b="1" i="0">
                <a:solidFill>
                  <a:srgbClr val="7FB927"/>
                </a:solidFill>
                <a:latin typeface="Roboto"/>
              </a:rPr>
              <a:t> bessó digital</a:t>
            </a:r>
          </a:p>
          <a:p>
            <a:pPr algn="ctr">
              <a:lnSpc>
                <a:spcPct val="120000"/>
              </a:lnSpc>
            </a:pPr>
            <a:r>
              <a:rPr sz="4480" b="0" i="0">
                <a:solidFill>
                  <a:srgbClr val="003040"/>
                </a:solidFill>
                <a:latin typeface="Roboto"/>
              </a:rPr>
              <a:t>de l'APDCAT a Gestiona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1600" y="5718175"/>
            <a:ext cx="812800" cy="381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48411" y="6264275"/>
            <a:ext cx="6759178" cy="53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3520" b="1" i="0">
                <a:solidFill>
                  <a:srgbClr val="7FB927"/>
                </a:solidFill>
                <a:latin typeface="Roboto"/>
              </a:rPr>
              <a:t>30 de setembre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Bessó digital: configuració realitzada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080742"/>
            <a:ext cx="5968802" cy="3973116"/>
          </a:xfrm>
          <a:prstGeom prst="roundRect">
            <a:avLst>
              <a:gd name="adj" fmla="val 4475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3131542"/>
            <a:ext cx="5968802" cy="3922316"/>
          </a:xfrm>
          <a:prstGeom prst="roundRect">
            <a:avLst>
              <a:gd name="adj" fmla="val 4533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3497659"/>
            <a:ext cx="5333802" cy="1117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10000"/>
              </a:lnSpc>
            </a:pPr>
            <a:r>
              <a:rPr sz="8000" b="1" i="0">
                <a:solidFill>
                  <a:srgbClr val="7FB927"/>
                </a:solidFill>
                <a:latin typeface="Roboto"/>
              </a:rPr>
              <a:t>249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4691459"/>
            <a:ext cx="5333802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Tasques reglades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8400" y="5366742"/>
            <a:ext cx="5257602" cy="13208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68400" y="5366742"/>
            <a:ext cx="5257602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26605" y="5684242"/>
            <a:ext cx="635992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183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297" y="6238677"/>
            <a:ext cx="1370608" cy="2244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En procediments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0802" y="5684242"/>
            <a:ext cx="1752600" cy="1003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920802" y="5684242"/>
            <a:ext cx="12700" cy="10033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8622" y="5684242"/>
            <a:ext cx="449461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6341" y="6238677"/>
            <a:ext cx="1394222" cy="2244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En subprocessos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73402" y="5684242"/>
            <a:ext cx="1752600" cy="1003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673402" y="5684242"/>
            <a:ext cx="12700" cy="10033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31222" y="5684242"/>
            <a:ext cx="449461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5002" y="6238677"/>
            <a:ext cx="1562100" cy="44886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Al procediment genèric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402" y="3080742"/>
            <a:ext cx="40259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086402" y="3131542"/>
            <a:ext cx="40259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3902" y="3487142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3902" y="4144367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Camps personalitzats al tesaurus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17102" y="3080742"/>
            <a:ext cx="40259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11417102" y="3131542"/>
            <a:ext cx="40259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1734602" y="3487142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34602" y="4144367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Procediments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34602" y="4514850"/>
            <a:ext cx="33909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+2 duplicats amb versions alternatives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402" y="5365750"/>
            <a:ext cx="40259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086402" y="5416550"/>
            <a:ext cx="40259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03902" y="5772150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3902" y="6429375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Circuits de resolució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17102" y="5365750"/>
            <a:ext cx="40259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11417102" y="5416550"/>
            <a:ext cx="40259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734602" y="5772150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34602" y="6429375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Subprocessos reglats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SG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192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3644900"/>
            <a:ext cx="47625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87600" y="3384550"/>
            <a:ext cx="28194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600" y="3625850"/>
            <a:ext cx="27686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Comunicació de la designació del DPD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912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912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1976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488" y="3644900"/>
            <a:ext cx="428625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66000" y="3384550"/>
            <a:ext cx="28194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000" y="3625850"/>
            <a:ext cx="27686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Proposta de contractació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696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7696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11760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0325" y="3644900"/>
            <a:ext cx="28575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0" y="3549650"/>
            <a:ext cx="1983581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0" y="3790950"/>
            <a:ext cx="1983581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Contracte menor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8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2192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275" y="6108700"/>
            <a:ext cx="47625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387600" y="6013450"/>
            <a:ext cx="2332236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7600" y="6254750"/>
            <a:ext cx="2332236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Contracte no menor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912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7912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1976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300" y="6108700"/>
            <a:ext cx="3810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366000" y="6013450"/>
            <a:ext cx="183515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6000" y="6254750"/>
            <a:ext cx="1835150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Atenció pública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7696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7696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11760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95075" y="6108700"/>
            <a:ext cx="47625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344400" y="6013450"/>
            <a:ext cx="195083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0" y="6254750"/>
            <a:ext cx="195083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Exercici de drets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AJ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717800" y="41973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500" y="4464050"/>
            <a:ext cx="3810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88331" y="5365750"/>
            <a:ext cx="257313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PROC-AJ-01-CNS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8331" y="5607050"/>
            <a:ext cx="257313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Emissió de dictàmens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912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912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696200" y="40322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088" y="4298950"/>
            <a:ext cx="428625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59500" y="5200650"/>
            <a:ext cx="39878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PROC-AJ-02-PD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4900" y="5441950"/>
            <a:ext cx="39370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Emissió d'informe sobre disposicions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696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7696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674600" y="41973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8925" y="4464050"/>
            <a:ext cx="28575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11930" y="5365750"/>
            <a:ext cx="3639542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PROC-AJ-12-IAI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11930" y="5607050"/>
            <a:ext cx="3639542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Informe d'accés a la informació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27559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192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088" y="3644900"/>
            <a:ext cx="428625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87600" y="3549650"/>
            <a:ext cx="3423047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PROC-INS-004 · AIP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600" y="3790950"/>
            <a:ext cx="3423047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Accés a la informació pública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0400" y="27559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2804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6868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3644900"/>
            <a:ext cx="381000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55200" y="3549650"/>
            <a:ext cx="2470547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PROC-INS-01-IP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5200" y="3790950"/>
            <a:ext cx="2470547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Informacions prèvies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800" y="52197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128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192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6108700"/>
            <a:ext cx="38100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387600" y="6013450"/>
            <a:ext cx="357008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PROC-INS-02-PT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7600" y="6254750"/>
            <a:ext cx="357008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Procediment de tutela de drets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400" y="52197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2804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6868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0" y="6108700"/>
            <a:ext cx="38100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55200" y="6013450"/>
            <a:ext cx="2998192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PROC-INS-03-PS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5200" y="6254750"/>
            <a:ext cx="2998192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Procediment sancionador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Ús de l'entorn bessó a les proves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Usuaris creats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66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466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641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1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Expedients a la demo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04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804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79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79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Anotacions de registre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0142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20142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317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719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317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Tasques executades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Actuacions de l'equip de consultoria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Reunions presencials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03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9 i 10 de setembre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912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7912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087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7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Reunions en línia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7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28, 29 i 30 de setembre · 8 i 9 d'octubre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696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07696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0871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871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Especialistes en remot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71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Elena i Raúl · d'agost a la 1a setmana d'octubre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60800" y="5631855"/>
            <a:ext cx="5056981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860800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17781" y="5631855"/>
            <a:ext cx="4894064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917781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3811845" y="5631855"/>
            <a:ext cx="1631355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811845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5430500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12800" y="5631855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12800" y="5987455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822700" y="5720755"/>
            <a:ext cx="513318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9681" y="5720755"/>
            <a:ext cx="497026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SETEMBRE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73745" y="5720755"/>
            <a:ext cx="1707555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OCTUBRE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60852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Treball en remot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6101755"/>
            <a:ext cx="11042055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12800" y="64281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Reunions presencials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48305" y="6444655"/>
            <a:ext cx="27543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2800" y="67710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Reunions en línia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347700" y="6787555"/>
            <a:ext cx="438745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14979055" y="6787555"/>
            <a:ext cx="27543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045023" y="3562350"/>
            <a:ext cx="10165953" cy="774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5200" b="1" i="0" spc="-50">
                <a:solidFill>
                  <a:srgbClr val="FFFFFF"/>
                </a:solidFill>
                <a:latin typeface="Roboto"/>
              </a:rPr>
              <a:t>Proposta de projecte d'implantació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0" y="469265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33342" y="5073650"/>
            <a:ext cx="6589316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0000"/>
              </a:lnSpc>
            </a:pPr>
            <a:r>
              <a:rPr sz="2000" b="0" i="0">
                <a:solidFill>
                  <a:srgbClr val="FFFFFF"/>
                </a:solidFill>
                <a:latin typeface="Roboto"/>
              </a:rPr>
              <a:t>Del bessó digital a l'entorn real: dues opcions de calendari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Dues dimensions del projecte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00" y="2876352"/>
            <a:ext cx="6502400" cy="4381897"/>
          </a:xfrm>
          <a:prstGeom prst="roundRect">
            <a:avLst>
              <a:gd name="adj" fmla="val 4057"/>
            </a:avLst>
          </a:prstGeom>
          <a:solidFill>
            <a:srgbClr val="7FB927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397000" y="2927152"/>
            <a:ext cx="6502400" cy="4331097"/>
          </a:xfrm>
          <a:prstGeom prst="roundRect">
            <a:avLst>
              <a:gd name="adj" fmla="val 410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803400" y="3435152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475" y="3701852"/>
            <a:ext cx="47625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3400" y="4603552"/>
            <a:ext cx="5765800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560" b="1" i="0">
                <a:solidFill>
                  <a:srgbClr val="7FB927"/>
                </a:solidFill>
                <a:latin typeface="Roboto"/>
              </a:rPr>
              <a:t>Vessant jurídica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3400" y="5289352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803400" y="5289352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03400" y="5289352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Gestió del canvi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3400" y="6019800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803400" y="6019800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03400" y="6019800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Configuració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6600" y="2876352"/>
            <a:ext cx="6502400" cy="4381897"/>
          </a:xfrm>
          <a:prstGeom prst="roundRect">
            <a:avLst>
              <a:gd name="adj" fmla="val 4057"/>
            </a:avLst>
          </a:prstGeom>
          <a:solidFill>
            <a:srgbClr val="AA9944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356600" y="2927152"/>
            <a:ext cx="6502400" cy="4331097"/>
          </a:xfrm>
          <a:prstGeom prst="roundRect">
            <a:avLst>
              <a:gd name="adj" fmla="val 410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63000" y="3435152"/>
            <a:ext cx="914400" cy="914400"/>
          </a:xfrm>
          <a:prstGeom prst="ellipse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2075" y="3701852"/>
            <a:ext cx="476250" cy="381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763000" y="4603552"/>
            <a:ext cx="5765800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560" b="1" i="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63000" y="5289352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763000" y="5289352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63000" y="5289352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Projectes Factory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0" y="6019800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63000" y="6019800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63000" y="6019800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Migració de dades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Fases i fites del projecte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8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3528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3147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1 · DISSENY I TRANSICIÓ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54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3754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373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2 · ACTIVACIÓ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80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3980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599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3 · DESPLEGAMENT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4206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4206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3825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4 · CONSOLIDACIÓ</a:t>
            </a:r>
          </a:p>
        </p:txBody>
      </p:sp>
      <p:grpSp>
        <p:nvGrpSpPr>
          <p:cNvPr id="19" name="Fase 1"/>
          <p:cNvGrpSpPr/>
          <p:nvPr/>
        </p:nvGrpSpPr>
        <p:grpSpPr>
          <a:xfrm>
            <a:off x="812800" y="3939580"/>
            <a:ext cx="14516100" cy="975320"/>
            <a:chOff x="812800" y="3939580"/>
            <a:chExt cx="14516100" cy="975320"/>
          </a:xfrm>
        </p:grpSpPr>
        <p:sp>
          <p:nvSpPr>
            <p:cNvPr id="20" name="Rectangle 19"/>
            <p:cNvSpPr/>
            <p:nvPr/>
          </p:nvSpPr>
          <p:spPr>
            <a:xfrm>
              <a:off x="4864100" y="4091980"/>
              <a:ext cx="9067800" cy="25400"/>
            </a:xfrm>
            <a:prstGeom prst="rect">
              <a:avLst/>
            </a:prstGeom>
            <a:solidFill>
              <a:srgbClr val="7FB927">
                <a:alpha val="35000"/>
              </a:srgbClr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TextBox 20"/>
            <p:cNvSpPr txBox="1"/>
            <p:nvPr/>
          </p:nvSpPr>
          <p:spPr>
            <a:xfrm>
              <a:off x="1295400" y="4003080"/>
              <a:ext cx="1790303" cy="266700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20000"/>
                </a:lnSpc>
              </a:pPr>
              <a:r>
                <a:rPr sz="1839" b="1" i="0">
                  <a:solidFill>
                    <a:srgbClr val="7FB927"/>
                  </a:solidFill>
                  <a:latin typeface="Roboto"/>
                </a:rPr>
                <a:t>Vessant jurídica</a:t>
              </a:r>
            </a:p>
          </p:txBody>
        </p:sp>
        <p:pic>
          <p:nvPicPr>
            <p:cNvPr id="22" name="Picture 21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2800" y="4004270"/>
              <a:ext cx="330200" cy="264120"/>
            </a:xfrm>
            <a:prstGeom prst="rect">
              <a:avLst/>
            </a:prstGeom>
          </p:spPr>
        </p:pic>
        <p:sp>
          <p:nvSpPr>
            <p:cNvPr id="23" name="Oval 22"/>
            <p:cNvSpPr/>
            <p:nvPr/>
          </p:nvSpPr>
          <p:spPr>
            <a:xfrm>
              <a:off x="46990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Oval 23"/>
            <p:cNvSpPr/>
            <p:nvPr/>
          </p:nvSpPr>
          <p:spPr>
            <a:xfrm>
              <a:off x="47625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" name="TextBox 24"/>
            <p:cNvSpPr txBox="1"/>
            <p:nvPr/>
          </p:nvSpPr>
          <p:spPr>
            <a:xfrm>
              <a:off x="34671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Presa d'acords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671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Capacitació a l'Acadèmia Gestiona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7216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Oval 27"/>
            <p:cNvSpPr/>
            <p:nvPr/>
          </p:nvSpPr>
          <p:spPr>
            <a:xfrm>
              <a:off x="77851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" name="TextBox 28"/>
            <p:cNvSpPr txBox="1"/>
            <p:nvPr/>
          </p:nvSpPr>
          <p:spPr>
            <a:xfrm>
              <a:off x="64897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Procés de ratificacions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97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Activació TVF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107442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Oval 31"/>
            <p:cNvSpPr/>
            <p:nvPr/>
          </p:nvSpPr>
          <p:spPr>
            <a:xfrm>
              <a:off x="108077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TextBox 32"/>
            <p:cNvSpPr txBox="1"/>
            <p:nvPr/>
          </p:nvSpPr>
          <p:spPr>
            <a:xfrm>
              <a:off x="95123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Arrencada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123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Registre · Seu · Gestor d'expedients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37668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Oval 35"/>
            <p:cNvSpPr/>
            <p:nvPr/>
          </p:nvSpPr>
          <p:spPr>
            <a:xfrm>
              <a:off x="138303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7" name="TextBox 36"/>
            <p:cNvSpPr txBox="1"/>
            <p:nvPr/>
          </p:nvSpPr>
          <p:spPr>
            <a:xfrm>
              <a:off x="125349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Operació ordinària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5349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Analítica de dades</a:t>
              </a:r>
            </a:p>
          </p:txBody>
        </p:sp>
      </p:grpSp>
      <p:grpSp>
        <p:nvGrpSpPr>
          <p:cNvPr id="39" name="Fase 2"/>
          <p:cNvGrpSpPr/>
          <p:nvPr/>
        </p:nvGrpSpPr>
        <p:grpSpPr>
          <a:xfrm>
            <a:off x="812800" y="5270500"/>
            <a:ext cx="14630400" cy="1737320"/>
            <a:chOff x="812800" y="5270500"/>
            <a:chExt cx="14630400" cy="1737320"/>
          </a:xfrm>
        </p:grpSpPr>
        <p:sp>
          <p:nvSpPr>
            <p:cNvPr id="40" name="Rectangle 39"/>
            <p:cNvSpPr/>
            <p:nvPr/>
          </p:nvSpPr>
          <p:spPr>
            <a:xfrm>
              <a:off x="812800" y="5270500"/>
              <a:ext cx="14630400" cy="173732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1" name="Rectangle 40"/>
            <p:cNvSpPr/>
            <p:nvPr/>
          </p:nvSpPr>
          <p:spPr>
            <a:xfrm>
              <a:off x="812800" y="5270500"/>
              <a:ext cx="14630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4864100" y="5829300"/>
              <a:ext cx="9067800" cy="25400"/>
            </a:xfrm>
            <a:prstGeom prst="rect">
              <a:avLst/>
            </a:prstGeom>
            <a:solidFill>
              <a:srgbClr val="AA9944">
                <a:alpha val="35000"/>
              </a:srgbClr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TextBox 42"/>
            <p:cNvSpPr txBox="1"/>
            <p:nvPr/>
          </p:nvSpPr>
          <p:spPr>
            <a:xfrm>
              <a:off x="1295400" y="5740400"/>
              <a:ext cx="1775817" cy="266700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20000"/>
                </a:lnSpc>
              </a:pPr>
              <a:r>
                <a:rPr sz="1839" b="1" i="0">
                  <a:solidFill>
                    <a:srgbClr val="AA9944"/>
                  </a:solidFill>
                  <a:latin typeface="Roboto"/>
                </a:rPr>
                <a:t>Vessant tècnica</a:t>
              </a:r>
            </a:p>
          </p:txBody>
        </p:sp>
        <p:pic>
          <p:nvPicPr>
            <p:cNvPr id="44" name="Picture 43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2800" y="5741591"/>
              <a:ext cx="330200" cy="264120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46990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Oval 45"/>
            <p:cNvSpPr/>
            <p:nvPr/>
          </p:nvSpPr>
          <p:spPr>
            <a:xfrm>
              <a:off x="47625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TextBox 46"/>
            <p:cNvSpPr txBox="1"/>
            <p:nvPr/>
          </p:nvSpPr>
          <p:spPr>
            <a:xfrm>
              <a:off x="34671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Migració d'expedients vius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4671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Alta prioritat</a:t>
              </a:r>
            </a:p>
          </p:txBody>
        </p:sp>
        <p:sp>
          <p:nvSpPr>
            <p:cNvPr id="49" name="Oval 48"/>
            <p:cNvSpPr/>
            <p:nvPr/>
          </p:nvSpPr>
          <p:spPr>
            <a:xfrm>
              <a:off x="77216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Oval 49"/>
            <p:cNvSpPr/>
            <p:nvPr/>
          </p:nvSpPr>
          <p:spPr>
            <a:xfrm>
              <a:off x="77851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TextBox 50"/>
            <p:cNvSpPr txBox="1"/>
            <p:nvPr/>
          </p:nvSpPr>
          <p:spPr>
            <a:xfrm>
              <a:off x="64897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Activació dels serveis AOC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4897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Adaptació PICA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107442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4" name="Oval 53"/>
            <p:cNvSpPr/>
            <p:nvPr/>
          </p:nvSpPr>
          <p:spPr>
            <a:xfrm>
              <a:off x="108077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5" name="TextBox 54"/>
            <p:cNvSpPr txBox="1"/>
            <p:nvPr/>
          </p:nvSpPr>
          <p:spPr>
            <a:xfrm>
              <a:off x="95123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5123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Aranès · Nou frontweb · Millores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137668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8" name="Oval 57"/>
            <p:cNvSpPr/>
            <p:nvPr/>
          </p:nvSpPr>
          <p:spPr>
            <a:xfrm>
              <a:off x="138303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9" name="TextBox 58"/>
            <p:cNvSpPr txBox="1"/>
            <p:nvPr/>
          </p:nvSpPr>
          <p:spPr>
            <a:xfrm>
              <a:off x="125349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25349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SARCAT · Cens DPD · Publicació</a:t>
              </a:r>
            </a:p>
          </p:txBody>
        </p:sp>
      </p:grpSp>
      <p:sp>
        <p:nvSpPr>
          <p:cNvPr id="61" name="TextBox 6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9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Dues opcions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00" y="2025253"/>
            <a:ext cx="13462000" cy="2679700"/>
          </a:xfrm>
          <a:prstGeom prst="roundRect">
            <a:avLst>
              <a:gd name="adj" fmla="val 6635"/>
            </a:avLst>
          </a:prstGeom>
          <a:solidFill>
            <a:srgbClr val="7FB927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397000" y="2076053"/>
            <a:ext cx="13462000" cy="2628900"/>
          </a:xfrm>
          <a:prstGeom prst="roundRect">
            <a:avLst>
              <a:gd name="adj" fmla="val 6763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905000" y="2603103"/>
            <a:ext cx="3576836" cy="355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03040"/>
                </a:solidFill>
                <a:latin typeface="Roboto"/>
              </a:rPr>
              <a:t>Gestiona + Anexa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3085703"/>
            <a:ext cx="3526036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D5C66"/>
                </a:solidFill>
                <a:latin typeface="Roboto"/>
              </a:rPr>
              <a:t>Traslladem la tramitació administrativa a Gestiona i mantenim algunes funcionalitats del projecte Factory a Anexa.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5236" y="2872383"/>
            <a:ext cx="3251200" cy="7314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</a:pPr>
            <a:r>
              <a:rPr sz="5760" b="1" i="0">
                <a:solidFill>
                  <a:srgbClr val="7FB927"/>
                </a:solidFill>
                <a:latin typeface="Roboto"/>
              </a:rPr>
              <a:t>1T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15236" y="3680023"/>
            <a:ext cx="3251200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520" b="0" i="0">
                <a:solidFill>
                  <a:srgbClr val="3D5C66"/>
                </a:solidFill>
                <a:latin typeface="Roboto"/>
              </a:rPr>
              <a:t>Arrencada · 28 de febrer de 2027*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9836" y="2533253"/>
            <a:ext cx="1437084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Inici del projecte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41697" y="2533253"/>
            <a:ext cx="1409303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Novembre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99836" y="2888853"/>
            <a:ext cx="4551164" cy="495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9799836" y="2888853"/>
            <a:ext cx="4551164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99836" y="3028553"/>
            <a:ext cx="2654895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Migració d'expedients i registre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40655" y="3028553"/>
            <a:ext cx="1810345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28 de febrer de 2027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99836" y="3384153"/>
            <a:ext cx="4551164" cy="495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799836" y="3384153"/>
            <a:ext cx="4551164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99836" y="3523853"/>
            <a:ext cx="1867694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Evolutius de producte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40655" y="3523853"/>
            <a:ext cx="1810345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28 de febrer de 2027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9836" y="3879453"/>
            <a:ext cx="4551164" cy="495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799836" y="3879453"/>
            <a:ext cx="4551164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799836" y="4019153"/>
            <a:ext cx="2217341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Projecte Gestiona Factory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01141" y="4019153"/>
            <a:ext cx="2049859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Gener – setembre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97000" y="4958953"/>
            <a:ext cx="13462000" cy="2679700"/>
          </a:xfrm>
          <a:prstGeom prst="roundRect">
            <a:avLst>
              <a:gd name="adj" fmla="val 6635"/>
            </a:avLst>
          </a:prstGeom>
          <a:solidFill>
            <a:srgbClr val="7FB927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1397000" y="5009753"/>
            <a:ext cx="13462000" cy="2628900"/>
          </a:xfrm>
          <a:prstGeom prst="roundRect">
            <a:avLst>
              <a:gd name="adj" fmla="val 6763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905000" y="5679678"/>
            <a:ext cx="3576836" cy="355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03040"/>
                </a:solidFill>
                <a:latin typeface="Roboto"/>
              </a:rPr>
              <a:t>Gestiona integrat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5000" y="6162278"/>
            <a:ext cx="3526036" cy="857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D5C66"/>
                </a:solidFill>
                <a:latin typeface="Roboto"/>
              </a:rPr>
              <a:t>Condicionem la data d'arrencada al desenvolupament d'un projecte de Gestiona integrat.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5236" y="5806083"/>
            <a:ext cx="3251200" cy="7314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</a:pPr>
            <a:r>
              <a:rPr sz="5760" b="1" i="0">
                <a:solidFill>
                  <a:srgbClr val="7FB927"/>
                </a:solidFill>
                <a:latin typeface="Roboto"/>
              </a:rPr>
              <a:t>3T 2027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5236" y="6613723"/>
            <a:ext cx="3251200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520" b="0" i="0">
                <a:solidFill>
                  <a:srgbClr val="3D5C66"/>
                </a:solidFill>
                <a:latin typeface="Roboto"/>
              </a:rPr>
              <a:t>Arrencada · 17 de setembre de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9836" y="5466953"/>
            <a:ext cx="1437084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Inici del projecte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05433" y="5466953"/>
            <a:ext cx="1045567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Gener 2027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99836" y="5822553"/>
            <a:ext cx="4551164" cy="495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99836" y="5822553"/>
            <a:ext cx="4551164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799836" y="5962253"/>
            <a:ext cx="1887141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Migració d'expedients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249150" y="5962253"/>
            <a:ext cx="2101850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17 de setembre de 2027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99836" y="6317853"/>
            <a:ext cx="4551164" cy="495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799836" y="6317853"/>
            <a:ext cx="4551164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799836" y="6457553"/>
            <a:ext cx="1867694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Evolutius de producte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49150" y="6457553"/>
            <a:ext cx="2101850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17 de setembre de 2027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99836" y="6813153"/>
            <a:ext cx="4551164" cy="495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799836" y="6813153"/>
            <a:ext cx="4551164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799836" y="6952853"/>
            <a:ext cx="2217341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472" b="0" i="0">
                <a:solidFill>
                  <a:srgbClr val="3D5C66"/>
                </a:solidFill>
                <a:latin typeface="Roboto"/>
              </a:rPr>
              <a:t>Projecte Gestiona Factory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01141" y="6952853"/>
            <a:ext cx="2049859" cy="228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r">
              <a:lnSpc>
                <a:spcPct val="120000"/>
              </a:lnSpc>
            </a:pPr>
            <a:r>
              <a:rPr sz="1472" b="0" i="0">
                <a:solidFill>
                  <a:srgbClr val="003040"/>
                </a:solidFill>
                <a:latin typeface="Roboto"/>
              </a:rPr>
              <a:t>Gener – setembre 2027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7000" y="7841853"/>
            <a:ext cx="13538200" cy="2674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54999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* Data condicionada al desplegament dels evolutius de producte.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Gestiona + Anexa · Arrencada el 28 de febrer de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622800" y="2260600"/>
            <a:ext cx="355600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622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978400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9784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03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8503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224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7224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594402" y="2260600"/>
            <a:ext cx="1744266" cy="5244902"/>
          </a:xfrm>
          <a:prstGeom prst="rect">
            <a:avLst/>
          </a:prstGeom>
          <a:solidFill>
            <a:srgbClr val="7FB927">
              <a:alpha val="12000"/>
            </a:srgbClr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5944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3386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3386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0210602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2106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10827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0827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19548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19548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2826802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28268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6989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36989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45710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45710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54303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12800" y="2260600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812800" y="2616200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40300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NOV.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22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DES.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43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GEN.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6302" y="2349500"/>
            <a:ext cx="1820466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5A8A17"/>
                </a:solidFill>
                <a:latin typeface="Roboto"/>
              </a:rPr>
              <a:t>FEBRER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005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MARÇ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2502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ABR.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46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167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788702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608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5329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SET.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" y="2641600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5A8A17"/>
                </a:solidFill>
                <a:latin typeface="Roboto"/>
              </a:rPr>
              <a:t>VESSANT JURÍDICA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30315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Presa d'acords</a:t>
            </a:r>
          </a:p>
        </p:txBody>
      </p:sp>
      <p:sp>
        <p:nvSpPr>
          <p:cNvPr id="47" name="Rounded Rectangle 46"/>
          <p:cNvSpPr/>
          <p:nvPr/>
        </p:nvSpPr>
        <p:spPr>
          <a:xfrm rot="2700000">
            <a:off x="4718050" y="30480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2800" y="33744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Formació en línia bàsica de Gestiona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47867" y="3390900"/>
            <a:ext cx="821134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37173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Procés de ratificacions</a:t>
            </a:r>
          </a:p>
        </p:txBody>
      </p:sp>
      <p:sp>
        <p:nvSpPr>
          <p:cNvPr id="51" name="Rounded Rectangle 50"/>
          <p:cNvSpPr/>
          <p:nvPr/>
        </p:nvSpPr>
        <p:spPr>
          <a:xfrm rot="2700000">
            <a:off x="9038034" y="37338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12800" y="3987800"/>
            <a:ext cx="3835400" cy="39866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Registre, Seu electrònica i Gestor d'expedients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formació presencial i suport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28100" y="4104481"/>
            <a:ext cx="125730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2800" y="44588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Analítica de dades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64067" y="4475361"/>
            <a:ext cx="821134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2800" y="48017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Configuració avançada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64067" y="48182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12800" y="51446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Analítica de dades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08134" y="5161161"/>
            <a:ext cx="256540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12800" y="5415161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800" y="58050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Migració d'expedients i registre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03800" y="58215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12800" y="61479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Evolutius de producte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3800" y="61644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2800" y="6489502"/>
            <a:ext cx="3886200" cy="200620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Interoperabilitat AOC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altes i activació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75734" y="6507361"/>
            <a:ext cx="1693466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 rot="2700000">
            <a:off x="9038034" y="6507361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12800" y="6761361"/>
            <a:ext cx="3835400" cy="40124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Projecte Gestiona Factory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SARCAT, Cens DPD, Publicació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47867" y="6879431"/>
            <a:ext cx="8669734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12800" y="723503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Developers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64067" y="7251502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604228" y="7683302"/>
            <a:ext cx="122892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jurídica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223228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3468152" y="7683302"/>
            <a:ext cx="122773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tècnica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087152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5178484" y="7683302"/>
            <a:ext cx="366316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Fita</a:t>
            </a:r>
          </a:p>
        </p:txBody>
      </p:sp>
      <p:sp>
        <p:nvSpPr>
          <p:cNvPr id="77" name="Rounded Rectangle 76"/>
          <p:cNvSpPr/>
          <p:nvPr/>
        </p:nvSpPr>
        <p:spPr>
          <a:xfrm rot="2700000">
            <a:off x="14949884" y="7715052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Gestiona integrat · Arrencada el 17 de setembre de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622800" y="2260600"/>
            <a:ext cx="355600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622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97840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9784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2476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2476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07132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07132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1768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1768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16424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16424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021080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210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125716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25716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30372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30372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3350081" y="2260600"/>
            <a:ext cx="2093119" cy="5244902"/>
          </a:xfrm>
          <a:prstGeom prst="rect">
            <a:avLst/>
          </a:prstGeom>
          <a:solidFill>
            <a:srgbClr val="7FB927">
              <a:alpha val="12000"/>
            </a:srgbClr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335008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54305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12800" y="2260600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12800" y="2616200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4030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GEN.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666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FEBR.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322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MARÇ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958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ABR.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614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7270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JUNY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1906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6562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11981" y="2349500"/>
            <a:ext cx="216931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5A8A17"/>
                </a:solidFill>
                <a:latin typeface="Roboto"/>
              </a:rPr>
              <a:t>SETEMBRE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" y="2641600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5A8A17"/>
                </a:solidFill>
                <a:latin typeface="Roboto"/>
              </a:rPr>
              <a:t>VESSANT JURÍDICA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30315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Presa d'acords</a:t>
            </a:r>
          </a:p>
        </p:txBody>
      </p:sp>
      <p:sp>
        <p:nvSpPr>
          <p:cNvPr id="41" name="Rounded Rectangle 40"/>
          <p:cNvSpPr/>
          <p:nvPr/>
        </p:nvSpPr>
        <p:spPr>
          <a:xfrm rot="2700000">
            <a:off x="4718050" y="30480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2800" y="33744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Formació en línia bàsica de Gestiona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29120" y="3390900"/>
            <a:ext cx="99556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2800" y="37173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Procés de ratificacions</a:t>
            </a:r>
          </a:p>
        </p:txBody>
      </p:sp>
      <p:sp>
        <p:nvSpPr>
          <p:cNvPr id="45" name="Rounded Rectangle 44"/>
          <p:cNvSpPr/>
          <p:nvPr/>
        </p:nvSpPr>
        <p:spPr>
          <a:xfrm rot="2700000">
            <a:off x="14575631" y="37338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3987800"/>
            <a:ext cx="3835400" cy="39866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Registre, Seu electrònica i Gestor d'expedients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formació presencial i suport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422041" y="4104481"/>
            <a:ext cx="99575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2800" y="44588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Analítica de dades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422041" y="4475361"/>
            <a:ext cx="99575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48017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Configuració avançada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3800" y="4818261"/>
            <a:ext cx="622796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14945320" y="4818261"/>
            <a:ext cx="47248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12800" y="51446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Analítica de dades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43081" y="5161161"/>
            <a:ext cx="413523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12800" y="5415161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2800" y="58050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Migració d'expedients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282561" y="5821561"/>
            <a:ext cx="3611959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12800" y="61479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Evolutius de producte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03800" y="6164461"/>
            <a:ext cx="989072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12800" y="6489502"/>
            <a:ext cx="3886200" cy="200620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Interoperabilitat AOC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altes i activació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282561" y="6507361"/>
            <a:ext cx="204212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 rot="2700000">
            <a:off x="14575631" y="6507361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12800" y="6761361"/>
            <a:ext cx="3835400" cy="40124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Projecte Gestiona Factory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SARCAT, Cens DPD, Publicació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3800" y="6879431"/>
            <a:ext cx="1041400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2800" y="723503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Developers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03800" y="7251502"/>
            <a:ext cx="6227961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1604228" y="7683302"/>
            <a:ext cx="122892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jurídica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223228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3468152" y="7683302"/>
            <a:ext cx="122773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tècnica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087152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5178484" y="7683302"/>
            <a:ext cx="366316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Fita</a:t>
            </a:r>
          </a:p>
        </p:txBody>
      </p:sp>
      <p:sp>
        <p:nvSpPr>
          <p:cNvPr id="72" name="Rounded Rectangle 71"/>
          <p:cNvSpPr/>
          <p:nvPr/>
        </p:nvSpPr>
        <p:spPr>
          <a:xfrm rot="2700000">
            <a:off x="14949884" y="7715052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37036" y="3930650"/>
            <a:ext cx="10981928" cy="774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5200" b="1" i="0" spc="-50">
                <a:solidFill>
                  <a:srgbClr val="FFFFFF"/>
                </a:solidFill>
                <a:latin typeface="Roboto"/>
              </a:rPr>
              <a:t>T'acompanyem fins on vulguis arribar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0" y="506095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