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608262" y="3644503"/>
            <a:ext cx="11039277" cy="8229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7999"/>
              </a:lnSpc>
            </a:pPr>
            <a:r>
              <a:rPr sz="6000" b="1" i="0" spc="-50">
                <a:solidFill>
                  <a:srgbClr val="003040"/>
                </a:solidFill>
                <a:latin typeface="Roboto"/>
              </a:rPr>
              <a:t>Proposta de migració a</a:t>
            </a:r>
            <a:r>
              <a:rPr sz="6000" b="1" i="0" spc="-50">
                <a:solidFill>
                  <a:srgbClr val="7FB927"/>
                </a:solidFill>
                <a:latin typeface="Roboto"/>
              </a:rPr>
              <a:t> Gestiona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0" y="4823023"/>
            <a:ext cx="1016000" cy="50800"/>
          </a:xfrm>
          <a:prstGeom prst="roundRect">
            <a:avLst>
              <a:gd name="adj" fmla="val 50000"/>
            </a:avLst>
          </a:prstGeom>
          <a:solidFill>
            <a:srgbClr val="A8D165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585420" y="5077023"/>
            <a:ext cx="5084961" cy="29527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55000"/>
              </a:lnSpc>
            </a:pPr>
            <a:r>
              <a:rPr sz="1500" b="0" i="0">
                <a:solidFill>
                  <a:srgbClr val="3D5C66"/>
                </a:solidFill>
                <a:latin typeface="Roboto"/>
              </a:rPr>
              <a:t>Autoritat Catalana de Protecció de Dades · octubre de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Punt de partida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48411" y="3336925"/>
            <a:ext cx="6759178" cy="254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760" b="0" i="0" spc="70">
                <a:solidFill>
                  <a:srgbClr val="3D5C66"/>
                </a:solidFill>
                <a:latin typeface="Roboto"/>
              </a:rPr>
              <a:t>Compromís d'esPublico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73811" y="3844925"/>
            <a:ext cx="6708378" cy="13652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0000"/>
              </a:lnSpc>
            </a:pPr>
            <a:r>
              <a:rPr sz="4480" b="0" i="0">
                <a:solidFill>
                  <a:srgbClr val="003040"/>
                </a:solidFill>
                <a:latin typeface="Roboto"/>
              </a:rPr>
              <a:t>Configurar el</a:t>
            </a:r>
            <a:r>
              <a:rPr sz="4480" b="1" i="0">
                <a:solidFill>
                  <a:srgbClr val="7FB927"/>
                </a:solidFill>
                <a:latin typeface="Roboto"/>
              </a:rPr>
              <a:t> bessó digital</a:t>
            </a:r>
          </a:p>
          <a:p>
            <a:pPr algn="ctr">
              <a:lnSpc>
                <a:spcPct val="120000"/>
              </a:lnSpc>
            </a:pPr>
            <a:r>
              <a:rPr sz="4480" b="0" i="0">
                <a:solidFill>
                  <a:srgbClr val="003040"/>
                </a:solidFill>
                <a:latin typeface="Roboto"/>
              </a:rPr>
              <a:t>de l'APDCAT a Gestiona</a:t>
            </a:r>
          </a:p>
        </p:txBody>
      </p:sp>
      <p:sp>
        <p:nvSpPr>
          <p:cNvPr id="9" name="Rectangle 8"/>
          <p:cNvSpPr/>
          <p:nvPr/>
        </p:nvSpPr>
        <p:spPr>
          <a:xfrm>
            <a:off x="7721600" y="5718175"/>
            <a:ext cx="812800" cy="381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748411" y="6264275"/>
            <a:ext cx="6759178" cy="5334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3520" b="1" i="0">
                <a:solidFill>
                  <a:srgbClr val="7FB927"/>
                </a:solidFill>
                <a:latin typeface="Roboto"/>
              </a:rPr>
              <a:t>30 de setembre de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Bessó digital: configuració realitzada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800" y="3080742"/>
            <a:ext cx="5968802" cy="3973116"/>
          </a:xfrm>
          <a:prstGeom prst="roundRect">
            <a:avLst>
              <a:gd name="adj" fmla="val 4475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12800" y="3131542"/>
            <a:ext cx="5968802" cy="3922316"/>
          </a:xfrm>
          <a:prstGeom prst="roundRect">
            <a:avLst>
              <a:gd name="adj" fmla="val 4533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30300" y="3497659"/>
            <a:ext cx="5333802" cy="11176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10000"/>
              </a:lnSpc>
            </a:pPr>
            <a:r>
              <a:rPr sz="8000" b="1" i="0">
                <a:solidFill>
                  <a:srgbClr val="7FB927"/>
                </a:solidFill>
                <a:latin typeface="Roboto"/>
              </a:rPr>
              <a:t>249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0300" y="4691459"/>
            <a:ext cx="5333802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Tasques reglades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68400" y="5366742"/>
            <a:ext cx="5257602" cy="13208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168400" y="5366742"/>
            <a:ext cx="5257602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726605" y="5684242"/>
            <a:ext cx="635992" cy="50363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54999"/>
              </a:lnSpc>
            </a:pPr>
            <a:r>
              <a:rPr sz="2560" b="1" i="0">
                <a:solidFill>
                  <a:srgbClr val="5A8A17"/>
                </a:solidFill>
                <a:latin typeface="Roboto"/>
              </a:rPr>
              <a:t>183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9297" y="6238677"/>
            <a:ext cx="1370608" cy="22443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0000"/>
              </a:lnSpc>
            </a:pPr>
            <a:r>
              <a:rPr sz="1360" b="0" i="0">
                <a:solidFill>
                  <a:srgbClr val="3D5C66"/>
                </a:solidFill>
                <a:latin typeface="Roboto"/>
              </a:rPr>
              <a:t>En procediments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0802" y="5684242"/>
            <a:ext cx="1752600" cy="10033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920802" y="5684242"/>
            <a:ext cx="12700" cy="10033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578622" y="5684242"/>
            <a:ext cx="449461" cy="50363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54999"/>
              </a:lnSpc>
            </a:pPr>
            <a:r>
              <a:rPr sz="2560" b="1" i="0">
                <a:solidFill>
                  <a:srgbClr val="5A8A17"/>
                </a:solidFill>
                <a:latin typeface="Roboto"/>
              </a:rPr>
              <a:t>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6341" y="6238677"/>
            <a:ext cx="1394222" cy="22443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0000"/>
              </a:lnSpc>
            </a:pPr>
            <a:r>
              <a:rPr sz="1360" b="0" i="0">
                <a:solidFill>
                  <a:srgbClr val="3D5C66"/>
                </a:solidFill>
                <a:latin typeface="Roboto"/>
              </a:rPr>
              <a:t>En subprocessos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73402" y="5684242"/>
            <a:ext cx="1752600" cy="10033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673402" y="5684242"/>
            <a:ext cx="12700" cy="10033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31222" y="5684242"/>
            <a:ext cx="449461" cy="50363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54999"/>
              </a:lnSpc>
            </a:pPr>
            <a:r>
              <a:rPr sz="2560" b="1" i="0">
                <a:solidFill>
                  <a:srgbClr val="5A8A17"/>
                </a:solidFill>
                <a:latin typeface="Roboto"/>
              </a:rPr>
              <a:t>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5002" y="6238677"/>
            <a:ext cx="1562100" cy="44886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0000"/>
              </a:lnSpc>
            </a:pPr>
            <a:r>
              <a:rPr sz="1360" b="0" i="0">
                <a:solidFill>
                  <a:srgbClr val="3D5C66"/>
                </a:solidFill>
                <a:latin typeface="Roboto"/>
              </a:rPr>
              <a:t>Al procediment genèric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86402" y="3080742"/>
            <a:ext cx="4025900" cy="1980208"/>
          </a:xfrm>
          <a:prstGeom prst="roundRect">
            <a:avLst>
              <a:gd name="adj" fmla="val 8978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7086402" y="3131542"/>
            <a:ext cx="4025900" cy="1929408"/>
          </a:xfrm>
          <a:prstGeom prst="roundRect">
            <a:avLst>
              <a:gd name="adj" fmla="val 921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03902" y="3487142"/>
            <a:ext cx="33909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241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3902" y="4144367"/>
            <a:ext cx="33909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Camps personalitzats al tesaurus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17102" y="3080742"/>
            <a:ext cx="4025900" cy="1980208"/>
          </a:xfrm>
          <a:prstGeom prst="roundRect">
            <a:avLst>
              <a:gd name="adj" fmla="val 8978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11417102" y="3131542"/>
            <a:ext cx="4025900" cy="1929408"/>
          </a:xfrm>
          <a:prstGeom prst="roundRect">
            <a:avLst>
              <a:gd name="adj" fmla="val 921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1734602" y="3487142"/>
            <a:ext cx="33909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34602" y="4144367"/>
            <a:ext cx="33909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Procediments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34602" y="4514850"/>
            <a:ext cx="339090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312" b="0" i="0">
                <a:solidFill>
                  <a:srgbClr val="3D5C66"/>
                </a:solidFill>
                <a:latin typeface="Roboto"/>
              </a:rPr>
              <a:t>+2 duplicats amb versions alternatives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86402" y="5365750"/>
            <a:ext cx="4025900" cy="1688108"/>
          </a:xfrm>
          <a:prstGeom prst="roundRect">
            <a:avLst>
              <a:gd name="adj" fmla="val 10532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7086402" y="5416550"/>
            <a:ext cx="4025900" cy="1637308"/>
          </a:xfrm>
          <a:prstGeom prst="roundRect">
            <a:avLst>
              <a:gd name="adj" fmla="val 10859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403902" y="5772150"/>
            <a:ext cx="33909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3902" y="6429375"/>
            <a:ext cx="33909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Circuits de resolució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17102" y="5365750"/>
            <a:ext cx="4025900" cy="1688108"/>
          </a:xfrm>
          <a:prstGeom prst="roundRect">
            <a:avLst>
              <a:gd name="adj" fmla="val 10532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11417102" y="5416550"/>
            <a:ext cx="4025900" cy="1637308"/>
          </a:xfrm>
          <a:prstGeom prst="roundRect">
            <a:avLst>
              <a:gd name="adj" fmla="val 10859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1734602" y="5772150"/>
            <a:ext cx="33909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34602" y="6429375"/>
            <a:ext cx="33909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Subprocessos reglats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Procediments configurats · SG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800" y="2755900"/>
            <a:ext cx="46736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812800" y="27559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219200" y="33782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275" y="3644900"/>
            <a:ext cx="476250" cy="381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387600" y="3384550"/>
            <a:ext cx="281940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PROC_SG_02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7600" y="3625850"/>
            <a:ext cx="2768600" cy="660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Comunicació de la designació del DPD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91200" y="2755900"/>
            <a:ext cx="46736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791200" y="27559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197600" y="33782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488" y="3644900"/>
            <a:ext cx="428625" cy="381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366000" y="3384550"/>
            <a:ext cx="281940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PROC_SG_03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6000" y="3625850"/>
            <a:ext cx="2768600" cy="660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Proposta de contractació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769600" y="2755900"/>
            <a:ext cx="46736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0769600" y="27559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1176000" y="33782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90325" y="3644900"/>
            <a:ext cx="285750" cy="381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344400" y="3549650"/>
            <a:ext cx="1983581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PROC_SG_04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0" y="3790950"/>
            <a:ext cx="1983581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Contracte menor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800" y="5219700"/>
            <a:ext cx="46736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12800" y="52197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219200" y="58420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8275" y="6108700"/>
            <a:ext cx="476250" cy="381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387600" y="6013450"/>
            <a:ext cx="2332236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PROC_SG_05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7600" y="6254750"/>
            <a:ext cx="2332236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Contracte no menor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91200" y="5219700"/>
            <a:ext cx="46736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5791200" y="52197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6197600" y="58420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4300" y="6108700"/>
            <a:ext cx="381000" cy="381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366000" y="6013450"/>
            <a:ext cx="183515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PROC_SG_06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6000" y="6254750"/>
            <a:ext cx="1835150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Atenció pública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769600" y="5219700"/>
            <a:ext cx="46736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10769600" y="52197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11176000" y="58420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95075" y="6108700"/>
            <a:ext cx="476250" cy="381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2344400" y="6013450"/>
            <a:ext cx="1950839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PROC_SG_06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44400" y="6254750"/>
            <a:ext cx="1950839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Exercici de drets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Procediments configurats · AJ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800" y="3162300"/>
            <a:ext cx="4673600" cy="3810000"/>
          </a:xfrm>
          <a:prstGeom prst="roundRect">
            <a:avLst>
              <a:gd name="adj" fmla="val 4666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812800" y="3162300"/>
            <a:ext cx="50800" cy="3810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2717800" y="419735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4500" y="4464050"/>
            <a:ext cx="381000" cy="381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88331" y="5365750"/>
            <a:ext cx="2573139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PROC-AJ-01-CNS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8331" y="5607050"/>
            <a:ext cx="2573139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Emissió de dictàmens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91200" y="3162300"/>
            <a:ext cx="4673600" cy="3810000"/>
          </a:xfrm>
          <a:prstGeom prst="roundRect">
            <a:avLst>
              <a:gd name="adj" fmla="val 4666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791200" y="3162300"/>
            <a:ext cx="50800" cy="3810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696200" y="403225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9088" y="4298950"/>
            <a:ext cx="428625" cy="381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59500" y="5200650"/>
            <a:ext cx="398780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PROC-AJ-02-PD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4900" y="5441950"/>
            <a:ext cx="3937000" cy="660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Emissió d'informe sobre disposicions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769600" y="3162300"/>
            <a:ext cx="4673600" cy="3810000"/>
          </a:xfrm>
          <a:prstGeom prst="roundRect">
            <a:avLst>
              <a:gd name="adj" fmla="val 4666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0769600" y="3162300"/>
            <a:ext cx="50800" cy="3810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2674600" y="419735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88925" y="4464050"/>
            <a:ext cx="285750" cy="381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311930" y="5365750"/>
            <a:ext cx="3639542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PROC-AJ-12-IAI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11930" y="5607050"/>
            <a:ext cx="3639542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Informe d'accés a la informació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Procediments configurats · 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800" y="2755900"/>
            <a:ext cx="71628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812800" y="27559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219200" y="33782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088" y="3644900"/>
            <a:ext cx="428625" cy="381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387600" y="3549650"/>
            <a:ext cx="3423047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PROC-INS-004 · AIP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7600" y="3790950"/>
            <a:ext cx="3423047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Accés a la informació pública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0400" y="2755900"/>
            <a:ext cx="71628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280400" y="27559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686800" y="33782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0" y="3644900"/>
            <a:ext cx="381000" cy="381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55200" y="3549650"/>
            <a:ext cx="2470547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PROC-INS-01-IP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55200" y="3790950"/>
            <a:ext cx="2470547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Informacions prèvies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800" y="5219700"/>
            <a:ext cx="71628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12800" y="52197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219200" y="58420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5900" y="6108700"/>
            <a:ext cx="381000" cy="381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387600" y="6013450"/>
            <a:ext cx="3570089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PROC-INS-02-PT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7600" y="6254750"/>
            <a:ext cx="3570089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Procediment de tutela de drets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0400" y="5219700"/>
            <a:ext cx="7162800" cy="2159000"/>
          </a:xfrm>
          <a:prstGeom prst="roundRect">
            <a:avLst>
              <a:gd name="adj" fmla="val 823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280400" y="5219700"/>
            <a:ext cx="50800" cy="2159000"/>
          </a:xfrm>
          <a:prstGeom prst="rect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686800" y="5842000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3500" y="6108700"/>
            <a:ext cx="381000" cy="381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55200" y="6013450"/>
            <a:ext cx="2998192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1248" b="1" i="0" spc="30">
                <a:solidFill>
                  <a:srgbClr val="5A8A17"/>
                </a:solidFill>
                <a:latin typeface="Roboto"/>
              </a:rPr>
              <a:t>PROC-INS-03-PS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55200" y="6254750"/>
            <a:ext cx="2998192" cy="3302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03040"/>
                </a:solidFill>
                <a:latin typeface="Roboto"/>
              </a:rPr>
              <a:t>Procediment sancionador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Ús de l'entorn bessó a les proves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800" y="4223147"/>
            <a:ext cx="3429000" cy="1688108"/>
          </a:xfrm>
          <a:prstGeom prst="roundRect">
            <a:avLst>
              <a:gd name="adj" fmla="val 10532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12800" y="4273947"/>
            <a:ext cx="3429000" cy="1637308"/>
          </a:xfrm>
          <a:prstGeom prst="roundRect">
            <a:avLst>
              <a:gd name="adj" fmla="val 10859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30300" y="4629547"/>
            <a:ext cx="27940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0300" y="5286772"/>
            <a:ext cx="27940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Usuaris creats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46600" y="4223147"/>
            <a:ext cx="3429000" cy="1688108"/>
          </a:xfrm>
          <a:prstGeom prst="roundRect">
            <a:avLst>
              <a:gd name="adj" fmla="val 10532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546600" y="4273947"/>
            <a:ext cx="3429000" cy="1637308"/>
          </a:xfrm>
          <a:prstGeom prst="roundRect">
            <a:avLst>
              <a:gd name="adj" fmla="val 10859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64100" y="4629547"/>
            <a:ext cx="27940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103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100" y="5286772"/>
            <a:ext cx="27940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Expedients a la demo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80400" y="4223147"/>
            <a:ext cx="3429000" cy="1688108"/>
          </a:xfrm>
          <a:prstGeom prst="roundRect">
            <a:avLst>
              <a:gd name="adj" fmla="val 10532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280400" y="4273947"/>
            <a:ext cx="3429000" cy="1637308"/>
          </a:xfrm>
          <a:prstGeom prst="roundRect">
            <a:avLst>
              <a:gd name="adj" fmla="val 10859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597900" y="4629547"/>
            <a:ext cx="27940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108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7900" y="5286772"/>
            <a:ext cx="27940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Anotacions de registre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014200" y="4223147"/>
            <a:ext cx="3429000" cy="1688108"/>
          </a:xfrm>
          <a:prstGeom prst="roundRect">
            <a:avLst>
              <a:gd name="adj" fmla="val 10532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12014200" y="4273947"/>
            <a:ext cx="3429000" cy="1637308"/>
          </a:xfrm>
          <a:prstGeom prst="roundRect">
            <a:avLst>
              <a:gd name="adj" fmla="val 10859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331700" y="4629547"/>
            <a:ext cx="27940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719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31700" y="5286772"/>
            <a:ext cx="27940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Tasques executades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Actuacions de l'equip de consultoria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800" y="3092847"/>
            <a:ext cx="4673600" cy="1980208"/>
          </a:xfrm>
          <a:prstGeom prst="roundRect">
            <a:avLst>
              <a:gd name="adj" fmla="val 8978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12800" y="3143647"/>
            <a:ext cx="4673600" cy="1929408"/>
          </a:xfrm>
          <a:prstGeom prst="roundRect">
            <a:avLst>
              <a:gd name="adj" fmla="val 921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30300" y="3499247"/>
            <a:ext cx="40386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0300" y="4156472"/>
            <a:ext cx="40386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Reunions presencials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0300" y="4526955"/>
            <a:ext cx="403860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312" b="0" i="0">
                <a:solidFill>
                  <a:srgbClr val="3D5C66"/>
                </a:solidFill>
                <a:latin typeface="Roboto"/>
              </a:rPr>
              <a:t>9 i 10 de setembre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91200" y="3092847"/>
            <a:ext cx="4673600" cy="1980208"/>
          </a:xfrm>
          <a:prstGeom prst="roundRect">
            <a:avLst>
              <a:gd name="adj" fmla="val 8978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5791200" y="3143647"/>
            <a:ext cx="4673600" cy="1929408"/>
          </a:xfrm>
          <a:prstGeom prst="roundRect">
            <a:avLst>
              <a:gd name="adj" fmla="val 921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08700" y="3499247"/>
            <a:ext cx="40386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700" y="4156472"/>
            <a:ext cx="40386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Reunions en línia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700" y="4526955"/>
            <a:ext cx="403860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312" b="0" i="0">
                <a:solidFill>
                  <a:srgbClr val="3D5C66"/>
                </a:solidFill>
                <a:latin typeface="Roboto"/>
              </a:rPr>
              <a:t>28, 29 i 30 de setembre · 8 i 9 d'octubre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769600" y="3092847"/>
            <a:ext cx="4673600" cy="1980208"/>
          </a:xfrm>
          <a:prstGeom prst="roundRect">
            <a:avLst>
              <a:gd name="adj" fmla="val 8978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10769600" y="3143647"/>
            <a:ext cx="4673600" cy="1929408"/>
          </a:xfrm>
          <a:prstGeom prst="roundRect">
            <a:avLst>
              <a:gd name="adj" fmla="val 921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087100" y="3499247"/>
            <a:ext cx="4038600" cy="5810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09999"/>
              </a:lnSpc>
            </a:pPr>
            <a:r>
              <a:rPr sz="4160" b="1" i="0">
                <a:solidFill>
                  <a:srgbClr val="7FB927"/>
                </a:solidFill>
                <a:latin typeface="Roboto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87100" y="4156472"/>
            <a:ext cx="4038600" cy="268883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35000"/>
              </a:lnSpc>
            </a:pPr>
            <a:r>
              <a:rPr sz="1568" b="0" i="0">
                <a:solidFill>
                  <a:srgbClr val="1A3A44"/>
                </a:solidFill>
                <a:latin typeface="Roboto"/>
              </a:rPr>
              <a:t>Especialistes en remot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87100" y="4526955"/>
            <a:ext cx="4038600" cy="1905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312" b="0" i="0">
                <a:solidFill>
                  <a:srgbClr val="3D5C66"/>
                </a:solidFill>
                <a:latin typeface="Roboto"/>
              </a:rPr>
              <a:t>Elena i Raúl · d'agost a la 1a setmana d'octubre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60800" y="5631855"/>
            <a:ext cx="5056981" cy="14097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3860800" y="5631855"/>
            <a:ext cx="12700" cy="1409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917781" y="5631855"/>
            <a:ext cx="4894064" cy="14097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8917781" y="5631855"/>
            <a:ext cx="12700" cy="1409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13811845" y="5631855"/>
            <a:ext cx="1631355" cy="14097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3811845" y="5631855"/>
            <a:ext cx="12700" cy="1409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15430500" y="5631855"/>
            <a:ext cx="12700" cy="1409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12800" y="5631855"/>
            <a:ext cx="14630400" cy="3810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812800" y="5987455"/>
            <a:ext cx="14630400" cy="25400"/>
          </a:xfrm>
          <a:prstGeom prst="rect">
            <a:avLst/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822700" y="5720755"/>
            <a:ext cx="5133181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AGOST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79681" y="5720755"/>
            <a:ext cx="4970264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SETEMBRE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73745" y="5720755"/>
            <a:ext cx="1707555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OCTUBRE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6085284"/>
            <a:ext cx="3124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Treball en remot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886200" y="6101755"/>
            <a:ext cx="11042055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12800" y="6428184"/>
            <a:ext cx="3124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Reunions presencials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248305" y="6444655"/>
            <a:ext cx="275431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12800" y="6771084"/>
            <a:ext cx="3124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Reunions en línia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3347700" y="6787555"/>
            <a:ext cx="438745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14979055" y="6787555"/>
            <a:ext cx="275431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045023" y="3562350"/>
            <a:ext cx="10165953" cy="774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5200" b="1" i="0" spc="-50">
                <a:solidFill>
                  <a:srgbClr val="FFFFFF"/>
                </a:solidFill>
                <a:latin typeface="Roboto"/>
              </a:rPr>
              <a:t>Proposta de projecte d'implantació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0" y="4692650"/>
            <a:ext cx="1016000" cy="50800"/>
          </a:xfrm>
          <a:prstGeom prst="roundRect">
            <a:avLst>
              <a:gd name="adj" fmla="val 50000"/>
            </a:avLst>
          </a:prstGeom>
          <a:solidFill>
            <a:srgbClr val="A8D165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833342" y="5073650"/>
            <a:ext cx="6589316" cy="381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50000"/>
              </a:lnSpc>
            </a:pPr>
            <a:r>
              <a:rPr sz="2000" b="0" i="0">
                <a:solidFill>
                  <a:srgbClr val="FFFFFF"/>
                </a:solidFill>
                <a:latin typeface="Roboto"/>
              </a:rPr>
              <a:t>Del bessó digital a l'entorn real: dues opcions de calendari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Dues dimensions del projecte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97000" y="2876352"/>
            <a:ext cx="6502400" cy="4381897"/>
          </a:xfrm>
          <a:prstGeom prst="roundRect">
            <a:avLst>
              <a:gd name="adj" fmla="val 4057"/>
            </a:avLst>
          </a:prstGeom>
          <a:solidFill>
            <a:srgbClr val="7FB927"/>
          </a:solidFill>
          <a:effectLst/>
          <a:ln>
            <a:noFill/>
          </a:ln>
          <a:effectLst>
            <a:outerShdw blurRad="203200" dist="25400" dir="5400000" algn="ctr" rotWithShape="0">
              <a:srgbClr val="003040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397000" y="2927152"/>
            <a:ext cx="6502400" cy="4331097"/>
          </a:xfrm>
          <a:prstGeom prst="roundRect">
            <a:avLst>
              <a:gd name="adj" fmla="val 410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1803400" y="3435152"/>
            <a:ext cx="914400" cy="914400"/>
          </a:xfrm>
          <a:prstGeom prst="ellipse">
            <a:avLst/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475" y="3701852"/>
            <a:ext cx="476250" cy="381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03400" y="4603552"/>
            <a:ext cx="5765800" cy="381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2560" b="1" i="0">
                <a:solidFill>
                  <a:srgbClr val="7FB927"/>
                </a:solidFill>
                <a:latin typeface="Roboto"/>
              </a:rPr>
              <a:t>Vessant jurídica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3400" y="5289352"/>
            <a:ext cx="5689600" cy="730448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1803400" y="5289352"/>
            <a:ext cx="5689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803400" y="5289352"/>
            <a:ext cx="5765800" cy="730448"/>
          </a:xfrm>
          <a:prstGeom prst="rect">
            <a:avLst/>
          </a:prstGeom>
          <a:noFill/>
        </p:spPr>
        <p:txBody>
          <a:bodyPr wrap="none" lIns="0" rIns="0" tIns="177800" bIns="177800" anchor="t"/>
          <a:lstStyle/>
          <a:p>
            <a:pPr algn="l">
              <a:lnSpc>
                <a:spcPct val="155000"/>
              </a:lnSpc>
            </a:pPr>
            <a:r>
              <a:rPr sz="1839" b="0" i="0">
                <a:solidFill>
                  <a:srgbClr val="003040"/>
                </a:solidFill>
                <a:latin typeface="Roboto"/>
              </a:rPr>
              <a:t>Gestió del canvi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3400" y="6019800"/>
            <a:ext cx="5689600" cy="730448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1803400" y="6019800"/>
            <a:ext cx="5689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803400" y="6019800"/>
            <a:ext cx="5765800" cy="730448"/>
          </a:xfrm>
          <a:prstGeom prst="rect">
            <a:avLst/>
          </a:prstGeom>
          <a:noFill/>
        </p:spPr>
        <p:txBody>
          <a:bodyPr wrap="none" lIns="0" rIns="0" tIns="177800" bIns="177800" anchor="t"/>
          <a:lstStyle/>
          <a:p>
            <a:pPr algn="l">
              <a:lnSpc>
                <a:spcPct val="155000"/>
              </a:lnSpc>
            </a:pPr>
            <a:r>
              <a:rPr sz="1839" b="0" i="0">
                <a:solidFill>
                  <a:srgbClr val="003040"/>
                </a:solidFill>
                <a:latin typeface="Roboto"/>
              </a:rPr>
              <a:t>Configuració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6600" y="2876352"/>
            <a:ext cx="6502400" cy="4381897"/>
          </a:xfrm>
          <a:prstGeom prst="roundRect">
            <a:avLst>
              <a:gd name="adj" fmla="val 4057"/>
            </a:avLst>
          </a:prstGeom>
          <a:solidFill>
            <a:srgbClr val="AA9944"/>
          </a:solidFill>
          <a:effectLst/>
          <a:ln>
            <a:noFill/>
          </a:ln>
          <a:effectLst>
            <a:outerShdw blurRad="203200" dist="25400" dir="5400000" algn="ctr" rotWithShape="0">
              <a:srgbClr val="003040">
                <a:alpha val="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8356600" y="2927152"/>
            <a:ext cx="6502400" cy="4331097"/>
          </a:xfrm>
          <a:prstGeom prst="roundRect">
            <a:avLst>
              <a:gd name="adj" fmla="val 4105"/>
            </a:avLst>
          </a:prstGeom>
          <a:solidFill>
            <a:srgbClr val="ECF0F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763000" y="3435152"/>
            <a:ext cx="914400" cy="914400"/>
          </a:xfrm>
          <a:prstGeom prst="ellipse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2075" y="3701852"/>
            <a:ext cx="476250" cy="381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763000" y="4603552"/>
            <a:ext cx="5765800" cy="3810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ct val="120000"/>
              </a:lnSpc>
            </a:pPr>
            <a:r>
              <a:rPr sz="2560" b="1" i="0">
                <a:solidFill>
                  <a:srgbClr val="AA9944"/>
                </a:solidFill>
                <a:latin typeface="Roboto"/>
              </a:rPr>
              <a:t>Vessant tècnica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63000" y="5289352"/>
            <a:ext cx="5689600" cy="730448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763000" y="5289352"/>
            <a:ext cx="5689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763000" y="5289352"/>
            <a:ext cx="5765800" cy="730448"/>
          </a:xfrm>
          <a:prstGeom prst="rect">
            <a:avLst/>
          </a:prstGeom>
          <a:noFill/>
        </p:spPr>
        <p:txBody>
          <a:bodyPr wrap="none" lIns="0" rIns="0" tIns="177800" bIns="177800" anchor="t"/>
          <a:lstStyle/>
          <a:p>
            <a:pPr algn="l">
              <a:lnSpc>
                <a:spcPct val="155000"/>
              </a:lnSpc>
            </a:pPr>
            <a:r>
              <a:rPr sz="1839" b="0" i="0">
                <a:solidFill>
                  <a:srgbClr val="003040"/>
                </a:solidFill>
                <a:latin typeface="Roboto"/>
              </a:rPr>
              <a:t>Projectes Factory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63000" y="6019800"/>
            <a:ext cx="5689600" cy="730448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763000" y="6019800"/>
            <a:ext cx="5689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763000" y="6019800"/>
            <a:ext cx="5765800" cy="730448"/>
          </a:xfrm>
          <a:prstGeom prst="rect">
            <a:avLst/>
          </a:prstGeom>
          <a:noFill/>
        </p:spPr>
        <p:txBody>
          <a:bodyPr wrap="none" lIns="0" rIns="0" tIns="177800" bIns="177800" anchor="t"/>
          <a:lstStyle/>
          <a:p>
            <a:pPr algn="l">
              <a:lnSpc>
                <a:spcPct val="155000"/>
              </a:lnSpc>
            </a:pPr>
            <a:r>
              <a:rPr sz="1839" b="0" i="0">
                <a:solidFill>
                  <a:srgbClr val="003040"/>
                </a:solidFill>
                <a:latin typeface="Roboto"/>
              </a:rPr>
              <a:t>Migració de dades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Fases i fites del projecte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2800" y="3126780"/>
            <a:ext cx="3022600" cy="4191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3352800" y="3533180"/>
            <a:ext cx="3022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314700" y="3126780"/>
            <a:ext cx="3098800" cy="419100"/>
          </a:xfrm>
          <a:prstGeom prst="rect">
            <a:avLst/>
          </a:prstGeom>
          <a:noFill/>
        </p:spPr>
        <p:txBody>
          <a:bodyPr wrap="none" lIns="152400" rIns="152400" tIns="0" bIns="203200" anchor="t"/>
          <a:lstStyle/>
          <a:p>
            <a:pPr algn="ctr">
              <a:lnSpc>
                <a:spcPct val="120000"/>
              </a:lnSpc>
            </a:pPr>
            <a:r>
              <a:rPr sz="1360" b="1" i="0" spc="82">
                <a:solidFill>
                  <a:srgbClr val="5A7A84"/>
                </a:solidFill>
                <a:latin typeface="Roboto"/>
              </a:rPr>
              <a:t>1 · DISSENY I TRANSICIÓ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5400" y="3126780"/>
            <a:ext cx="3022600" cy="4191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375400" y="3533180"/>
            <a:ext cx="3022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37300" y="3126780"/>
            <a:ext cx="3098800" cy="419100"/>
          </a:xfrm>
          <a:prstGeom prst="rect">
            <a:avLst/>
          </a:prstGeom>
          <a:noFill/>
        </p:spPr>
        <p:txBody>
          <a:bodyPr wrap="none" lIns="152400" rIns="152400" tIns="0" bIns="203200" anchor="t"/>
          <a:lstStyle/>
          <a:p>
            <a:pPr algn="ctr">
              <a:lnSpc>
                <a:spcPct val="120000"/>
              </a:lnSpc>
            </a:pPr>
            <a:r>
              <a:rPr sz="1360" b="1" i="0" spc="82">
                <a:solidFill>
                  <a:srgbClr val="5A7A84"/>
                </a:solidFill>
                <a:latin typeface="Roboto"/>
              </a:rPr>
              <a:t>2 · ACTIVACIÓ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8000" y="3126780"/>
            <a:ext cx="3022600" cy="4191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9398000" y="3533180"/>
            <a:ext cx="3022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59900" y="3126780"/>
            <a:ext cx="3098800" cy="419100"/>
          </a:xfrm>
          <a:prstGeom prst="rect">
            <a:avLst/>
          </a:prstGeom>
          <a:noFill/>
        </p:spPr>
        <p:txBody>
          <a:bodyPr wrap="none" lIns="152400" rIns="152400" tIns="0" bIns="203200" anchor="t"/>
          <a:lstStyle/>
          <a:p>
            <a:pPr algn="ctr">
              <a:lnSpc>
                <a:spcPct val="120000"/>
              </a:lnSpc>
            </a:pPr>
            <a:r>
              <a:rPr sz="1360" b="1" i="0" spc="82">
                <a:solidFill>
                  <a:srgbClr val="5A7A84"/>
                </a:solidFill>
                <a:latin typeface="Roboto"/>
              </a:rPr>
              <a:t>3 · DESPLEGAMENT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420600" y="3126780"/>
            <a:ext cx="3022600" cy="4191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420600" y="3533180"/>
            <a:ext cx="3022600" cy="12700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2382500" y="3126780"/>
            <a:ext cx="3098800" cy="419100"/>
          </a:xfrm>
          <a:prstGeom prst="rect">
            <a:avLst/>
          </a:prstGeom>
          <a:noFill/>
        </p:spPr>
        <p:txBody>
          <a:bodyPr wrap="none" lIns="152400" rIns="152400" tIns="0" bIns="203200" anchor="t"/>
          <a:lstStyle/>
          <a:p>
            <a:pPr algn="ctr">
              <a:lnSpc>
                <a:spcPct val="120000"/>
              </a:lnSpc>
            </a:pPr>
            <a:r>
              <a:rPr sz="1360" b="1" i="0" spc="82">
                <a:solidFill>
                  <a:srgbClr val="5A7A84"/>
                </a:solidFill>
                <a:latin typeface="Roboto"/>
              </a:rPr>
              <a:t>4 · CONSOLIDACIÓ</a:t>
            </a:r>
          </a:p>
        </p:txBody>
      </p:sp>
      <p:grpSp>
        <p:nvGrpSpPr>
          <p:cNvPr id="19" name="Fase 1"/>
          <p:cNvGrpSpPr/>
          <p:nvPr/>
        </p:nvGrpSpPr>
        <p:grpSpPr>
          <a:xfrm>
            <a:off x="812800" y="3939580"/>
            <a:ext cx="14516100" cy="975320"/>
            <a:chOff x="812800" y="3939580"/>
            <a:chExt cx="14516100" cy="975320"/>
          </a:xfrm>
        </p:grpSpPr>
        <p:sp>
          <p:nvSpPr>
            <p:cNvPr id="20" name="Rectangle 19"/>
            <p:cNvSpPr/>
            <p:nvPr/>
          </p:nvSpPr>
          <p:spPr>
            <a:xfrm>
              <a:off x="4864100" y="4091980"/>
              <a:ext cx="9067800" cy="25400"/>
            </a:xfrm>
            <a:prstGeom prst="rect">
              <a:avLst/>
            </a:prstGeom>
            <a:solidFill>
              <a:srgbClr val="7FB927">
                <a:alpha val="35000"/>
              </a:srgbClr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1" name="TextBox 20"/>
            <p:cNvSpPr txBox="1"/>
            <p:nvPr/>
          </p:nvSpPr>
          <p:spPr>
            <a:xfrm>
              <a:off x="1295400" y="4003080"/>
              <a:ext cx="1790303" cy="266700"/>
            </a:xfrm>
            <a:prstGeom prst="rect">
              <a:avLst/>
            </a:prstGeom>
            <a:noFill/>
          </p:spPr>
          <p:txBody>
            <a:bodyPr wrap="none" lIns="0" rIns="0" tIns="0" bIns="0" anchor="ctr"/>
            <a:lstStyle/>
            <a:p>
              <a:pPr algn="l">
                <a:lnSpc>
                  <a:spcPct val="120000"/>
                </a:lnSpc>
              </a:pPr>
              <a:r>
                <a:rPr sz="1839" b="1" i="0">
                  <a:solidFill>
                    <a:srgbClr val="7FB927"/>
                  </a:solidFill>
                  <a:latin typeface="Roboto"/>
                </a:rPr>
                <a:t>Vessant jurídica</a:t>
              </a:r>
            </a:p>
          </p:txBody>
        </p:sp>
        <p:pic>
          <p:nvPicPr>
            <p:cNvPr id="22" name="Picture 21" descr="image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2800" y="4004270"/>
              <a:ext cx="330200" cy="264120"/>
            </a:xfrm>
            <a:prstGeom prst="rect">
              <a:avLst/>
            </a:prstGeom>
          </p:spPr>
        </p:pic>
        <p:sp>
          <p:nvSpPr>
            <p:cNvPr id="23" name="Oval 22"/>
            <p:cNvSpPr/>
            <p:nvPr/>
          </p:nvSpPr>
          <p:spPr>
            <a:xfrm>
              <a:off x="4699000" y="393958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4" name="Oval 23"/>
            <p:cNvSpPr/>
            <p:nvPr/>
          </p:nvSpPr>
          <p:spPr>
            <a:xfrm>
              <a:off x="4762500" y="4003080"/>
              <a:ext cx="203200" cy="203200"/>
            </a:xfrm>
            <a:prstGeom prst="ellipse">
              <a:avLst/>
            </a:prstGeom>
            <a:solidFill>
              <a:srgbClr val="7FB927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5" name="TextBox 24"/>
            <p:cNvSpPr txBox="1"/>
            <p:nvPr/>
          </p:nvSpPr>
          <p:spPr>
            <a:xfrm>
              <a:off x="3467100" y="440948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Presa d'acords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467100" y="472440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Capacitació a l'Acadèmia Gestiona</a:t>
              </a:r>
            </a:p>
          </p:txBody>
        </p:sp>
        <p:sp>
          <p:nvSpPr>
            <p:cNvPr id="27" name="Oval 26"/>
            <p:cNvSpPr/>
            <p:nvPr/>
          </p:nvSpPr>
          <p:spPr>
            <a:xfrm>
              <a:off x="7721600" y="393958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8" name="Oval 27"/>
            <p:cNvSpPr/>
            <p:nvPr/>
          </p:nvSpPr>
          <p:spPr>
            <a:xfrm>
              <a:off x="7785100" y="4003080"/>
              <a:ext cx="203200" cy="203200"/>
            </a:xfrm>
            <a:prstGeom prst="ellipse">
              <a:avLst/>
            </a:prstGeom>
            <a:solidFill>
              <a:srgbClr val="7FB927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9" name="TextBox 28"/>
            <p:cNvSpPr txBox="1"/>
            <p:nvPr/>
          </p:nvSpPr>
          <p:spPr>
            <a:xfrm>
              <a:off x="6489700" y="440948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Procés de ratificacions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489700" y="472440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Activació TVF</a:t>
              </a:r>
            </a:p>
          </p:txBody>
        </p:sp>
        <p:sp>
          <p:nvSpPr>
            <p:cNvPr id="31" name="Oval 30"/>
            <p:cNvSpPr/>
            <p:nvPr/>
          </p:nvSpPr>
          <p:spPr>
            <a:xfrm>
              <a:off x="10744200" y="393958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2" name="Oval 31"/>
            <p:cNvSpPr/>
            <p:nvPr/>
          </p:nvSpPr>
          <p:spPr>
            <a:xfrm>
              <a:off x="10807700" y="4003080"/>
              <a:ext cx="203200" cy="203200"/>
            </a:xfrm>
            <a:prstGeom prst="ellipse">
              <a:avLst/>
            </a:prstGeom>
            <a:solidFill>
              <a:srgbClr val="7FB927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3" name="TextBox 32"/>
            <p:cNvSpPr txBox="1"/>
            <p:nvPr/>
          </p:nvSpPr>
          <p:spPr>
            <a:xfrm>
              <a:off x="9512300" y="440948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Arrencada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512300" y="472440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Registre · Seu · Gestor d'expedients</a:t>
              </a:r>
            </a:p>
          </p:txBody>
        </p:sp>
        <p:sp>
          <p:nvSpPr>
            <p:cNvPr id="35" name="Oval 34"/>
            <p:cNvSpPr/>
            <p:nvPr/>
          </p:nvSpPr>
          <p:spPr>
            <a:xfrm>
              <a:off x="13766800" y="393958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6" name="Oval 35"/>
            <p:cNvSpPr/>
            <p:nvPr/>
          </p:nvSpPr>
          <p:spPr>
            <a:xfrm>
              <a:off x="13830300" y="4003080"/>
              <a:ext cx="203200" cy="203200"/>
            </a:xfrm>
            <a:prstGeom prst="ellipse">
              <a:avLst/>
            </a:prstGeom>
            <a:solidFill>
              <a:srgbClr val="7FB927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7" name="TextBox 36"/>
            <p:cNvSpPr txBox="1"/>
            <p:nvPr/>
          </p:nvSpPr>
          <p:spPr>
            <a:xfrm>
              <a:off x="12534900" y="440948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Activació mòdul Direcció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2534900" y="472440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Analítica de dades</a:t>
              </a:r>
            </a:p>
          </p:txBody>
        </p:sp>
      </p:grpSp>
      <p:grpSp>
        <p:nvGrpSpPr>
          <p:cNvPr id="39" name="Fase 2"/>
          <p:cNvGrpSpPr/>
          <p:nvPr/>
        </p:nvGrpSpPr>
        <p:grpSpPr>
          <a:xfrm>
            <a:off x="812800" y="5270500"/>
            <a:ext cx="14630400" cy="1737320"/>
            <a:chOff x="812800" y="5270500"/>
            <a:chExt cx="14630400" cy="1737320"/>
          </a:xfrm>
        </p:grpSpPr>
        <p:sp>
          <p:nvSpPr>
            <p:cNvPr id="40" name="Rectangle 39"/>
            <p:cNvSpPr/>
            <p:nvPr/>
          </p:nvSpPr>
          <p:spPr>
            <a:xfrm>
              <a:off x="812800" y="5270500"/>
              <a:ext cx="14630400" cy="1737320"/>
            </a:xfrm>
            <a:prstGeom prst="rect">
              <a:avLst/>
            </a:prstGeom>
            <a:noFill/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1" name="Rectangle 40"/>
            <p:cNvSpPr/>
            <p:nvPr/>
          </p:nvSpPr>
          <p:spPr>
            <a:xfrm>
              <a:off x="812800" y="5270500"/>
              <a:ext cx="14630400" cy="12700"/>
            </a:xfrm>
            <a:prstGeom prst="rect">
              <a:avLst/>
            </a:prstGeom>
            <a:solidFill>
              <a:srgbClr val="D4DEE3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2" name="Rectangle 41"/>
            <p:cNvSpPr/>
            <p:nvPr/>
          </p:nvSpPr>
          <p:spPr>
            <a:xfrm>
              <a:off x="4864100" y="5829300"/>
              <a:ext cx="9067800" cy="25400"/>
            </a:xfrm>
            <a:prstGeom prst="rect">
              <a:avLst/>
            </a:prstGeom>
            <a:solidFill>
              <a:srgbClr val="AA9944">
                <a:alpha val="35000"/>
              </a:srgbClr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3" name="TextBox 42"/>
            <p:cNvSpPr txBox="1"/>
            <p:nvPr/>
          </p:nvSpPr>
          <p:spPr>
            <a:xfrm>
              <a:off x="1295400" y="5740400"/>
              <a:ext cx="1775817" cy="266700"/>
            </a:xfrm>
            <a:prstGeom prst="rect">
              <a:avLst/>
            </a:prstGeom>
            <a:noFill/>
          </p:spPr>
          <p:txBody>
            <a:bodyPr wrap="none" lIns="0" rIns="0" tIns="0" bIns="0" anchor="ctr"/>
            <a:lstStyle/>
            <a:p>
              <a:pPr algn="l">
                <a:lnSpc>
                  <a:spcPct val="120000"/>
                </a:lnSpc>
              </a:pPr>
              <a:r>
                <a:rPr sz="1839" b="1" i="0">
                  <a:solidFill>
                    <a:srgbClr val="AA9944"/>
                  </a:solidFill>
                  <a:latin typeface="Roboto"/>
                </a:rPr>
                <a:t>Vessant tècnica</a:t>
              </a:r>
            </a:p>
          </p:txBody>
        </p:sp>
        <p:pic>
          <p:nvPicPr>
            <p:cNvPr id="44" name="Picture 43" descr="imag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2800" y="5741591"/>
              <a:ext cx="330200" cy="264120"/>
            </a:xfrm>
            <a:prstGeom prst="rect">
              <a:avLst/>
            </a:prstGeom>
          </p:spPr>
        </p:pic>
        <p:sp>
          <p:nvSpPr>
            <p:cNvPr id="45" name="Oval 44"/>
            <p:cNvSpPr/>
            <p:nvPr/>
          </p:nvSpPr>
          <p:spPr>
            <a:xfrm>
              <a:off x="4699000" y="567690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6" name="Oval 45"/>
            <p:cNvSpPr/>
            <p:nvPr/>
          </p:nvSpPr>
          <p:spPr>
            <a:xfrm>
              <a:off x="4762500" y="5740400"/>
              <a:ext cx="203200" cy="203200"/>
            </a:xfrm>
            <a:prstGeom prst="ellipse">
              <a:avLst/>
            </a:prstGeom>
            <a:solidFill>
              <a:srgbClr val="AA9944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7" name="TextBox 46"/>
            <p:cNvSpPr txBox="1"/>
            <p:nvPr/>
          </p:nvSpPr>
          <p:spPr>
            <a:xfrm>
              <a:off x="3467100" y="614680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Migració d'expedients vius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3467100" y="646172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Alta prioritat</a:t>
              </a:r>
            </a:p>
          </p:txBody>
        </p:sp>
        <p:sp>
          <p:nvSpPr>
            <p:cNvPr id="49" name="Oval 48"/>
            <p:cNvSpPr/>
            <p:nvPr/>
          </p:nvSpPr>
          <p:spPr>
            <a:xfrm>
              <a:off x="7721600" y="567690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0" name="Oval 49"/>
            <p:cNvSpPr/>
            <p:nvPr/>
          </p:nvSpPr>
          <p:spPr>
            <a:xfrm>
              <a:off x="7785100" y="5740400"/>
              <a:ext cx="203200" cy="203200"/>
            </a:xfrm>
            <a:prstGeom prst="ellipse">
              <a:avLst/>
            </a:prstGeom>
            <a:solidFill>
              <a:srgbClr val="AA9944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1" name="TextBox 50"/>
            <p:cNvSpPr txBox="1"/>
            <p:nvPr/>
          </p:nvSpPr>
          <p:spPr>
            <a:xfrm>
              <a:off x="6489700" y="614680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Activació dels serveis AOC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6489700" y="646172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Adaptació PICA</a:t>
              </a:r>
            </a:p>
          </p:txBody>
        </p:sp>
        <p:sp>
          <p:nvSpPr>
            <p:cNvPr id="53" name="Oval 52"/>
            <p:cNvSpPr/>
            <p:nvPr/>
          </p:nvSpPr>
          <p:spPr>
            <a:xfrm>
              <a:off x="10744200" y="567690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4" name="Oval 53"/>
            <p:cNvSpPr/>
            <p:nvPr/>
          </p:nvSpPr>
          <p:spPr>
            <a:xfrm>
              <a:off x="10807700" y="5740400"/>
              <a:ext cx="203200" cy="203200"/>
            </a:xfrm>
            <a:prstGeom prst="ellipse">
              <a:avLst/>
            </a:prstGeom>
            <a:solidFill>
              <a:srgbClr val="AA9944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5" name="TextBox 54"/>
            <p:cNvSpPr txBox="1"/>
            <p:nvPr/>
          </p:nvSpPr>
          <p:spPr>
            <a:xfrm>
              <a:off x="9512300" y="614680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Evolutius de producte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9512300" y="646172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Aranès · Nou frontweb · Millores</a:t>
              </a:r>
            </a:p>
          </p:txBody>
        </p:sp>
        <p:sp>
          <p:nvSpPr>
            <p:cNvPr id="57" name="Oval 56"/>
            <p:cNvSpPr/>
            <p:nvPr/>
          </p:nvSpPr>
          <p:spPr>
            <a:xfrm>
              <a:off x="13766800" y="5676900"/>
              <a:ext cx="330200" cy="330200"/>
            </a:xfrm>
            <a:prstGeom prst="ellipse">
              <a:avLst/>
            </a:prstGeom>
            <a:solidFill>
              <a:srgbClr val="FFFFFF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8" name="Oval 57"/>
            <p:cNvSpPr/>
            <p:nvPr/>
          </p:nvSpPr>
          <p:spPr>
            <a:xfrm>
              <a:off x="13830300" y="5740400"/>
              <a:ext cx="203200" cy="203200"/>
            </a:xfrm>
            <a:prstGeom prst="ellipse">
              <a:avLst/>
            </a:prstGeom>
            <a:solidFill>
              <a:srgbClr val="AA9944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9" name="TextBox 58"/>
            <p:cNvSpPr txBox="1"/>
            <p:nvPr/>
          </p:nvSpPr>
          <p:spPr>
            <a:xfrm>
              <a:off x="12534900" y="6146800"/>
              <a:ext cx="2794000" cy="26412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30000"/>
                </a:lnSpc>
              </a:pPr>
              <a:r>
                <a:rPr sz="1600" b="1" i="0">
                  <a:solidFill>
                    <a:srgbClr val="003040"/>
                  </a:solidFill>
                  <a:latin typeface="Roboto"/>
                </a:rPr>
                <a:t>Projecte Gestiona Factory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12534900" y="6461720"/>
              <a:ext cx="2794000" cy="1905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>
                <a:lnSpc>
                  <a:spcPct val="120000"/>
                </a:lnSpc>
              </a:pPr>
              <a:r>
                <a:rPr sz="1312" b="0" i="0">
                  <a:solidFill>
                    <a:srgbClr val="3D5C66"/>
                  </a:solidFill>
                  <a:latin typeface="Roboto"/>
                </a:rPr>
                <a:t>SARCAT · Cens DPD · Publicació</a:t>
              </a:r>
            </a:p>
          </p:txBody>
        </p:sp>
      </p:grpSp>
      <p:sp>
        <p:nvSpPr>
          <p:cNvPr id="61" name="TextBox 60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39" grpId="0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Dues opcions</a:t>
            </a:r>
          </a:p>
        </p:txBody>
      </p:sp>
      <p:grpSp>
        <p:nvGrpSpPr>
          <p:cNvPr id="7" name="Fase 1"/>
          <p:cNvGrpSpPr/>
          <p:nvPr/>
        </p:nvGrpSpPr>
        <p:grpSpPr>
          <a:xfrm>
            <a:off x="1397000" y="1829395"/>
            <a:ext cx="6502400" cy="6005116"/>
            <a:chOff x="1397000" y="1829395"/>
            <a:chExt cx="6502400" cy="6005116"/>
          </a:xfrm>
        </p:grpSpPr>
        <p:sp>
          <p:nvSpPr>
            <p:cNvPr id="8" name="Rounded Rectangle 7"/>
            <p:cNvSpPr/>
            <p:nvPr/>
          </p:nvSpPr>
          <p:spPr>
            <a:xfrm>
              <a:off x="1397000" y="1829395"/>
              <a:ext cx="6502400" cy="6005116"/>
            </a:xfrm>
            <a:prstGeom prst="roundRect">
              <a:avLst>
                <a:gd name="adj" fmla="val 2960"/>
              </a:avLst>
            </a:prstGeom>
            <a:solidFill>
              <a:srgbClr val="7FB927"/>
            </a:solidFill>
            <a:effectLst/>
            <a:ln>
              <a:noFill/>
            </a:ln>
            <a:effectLst>
              <a:outerShdw blurRad="203200" dist="25400" dir="5400000" algn="ctr" rotWithShape="0">
                <a:srgbClr val="003040">
                  <a:alpha val="6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9" name="Rounded Rectangle 8"/>
            <p:cNvSpPr/>
            <p:nvPr/>
          </p:nvSpPr>
          <p:spPr>
            <a:xfrm>
              <a:off x="1397000" y="1880195"/>
              <a:ext cx="6502400" cy="5954316"/>
            </a:xfrm>
            <a:prstGeom prst="roundRect">
              <a:avLst>
                <a:gd name="adj" fmla="val 2986"/>
              </a:avLst>
            </a:prstGeom>
            <a:solidFill>
              <a:srgbClr val="ECF0F3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0" name="TextBox 9"/>
            <p:cNvSpPr txBox="1"/>
            <p:nvPr/>
          </p:nvSpPr>
          <p:spPr>
            <a:xfrm>
              <a:off x="1905000" y="2388195"/>
              <a:ext cx="5562600" cy="355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2400" b="1" i="0">
                  <a:solidFill>
                    <a:srgbClr val="003040"/>
                  </a:solidFill>
                  <a:latin typeface="Roboto"/>
                </a:rPr>
                <a:t>Gestiona + Anexa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05000" y="2870795"/>
              <a:ext cx="5511800" cy="828675"/>
            </a:xfrm>
            <a:prstGeom prst="rect">
              <a:avLst/>
            </a:prstGeom>
            <a:noFill/>
          </p:spPr>
          <p:txBody>
            <a:bodyPr wrap="square" lIns="0" rIns="0" tIns="0" bIns="0" anchor="t"/>
            <a:lstStyle/>
            <a:p>
              <a:pPr algn="l">
                <a:lnSpc>
                  <a:spcPct val="150000"/>
                </a:lnSpc>
              </a:pPr>
              <a:r>
                <a:rPr sz="1500" b="0" i="0">
                  <a:solidFill>
                    <a:srgbClr val="3D5C66"/>
                  </a:solidFill>
                  <a:latin typeface="Roboto"/>
                </a:rPr>
                <a:t>Traslladem la tramitació administrativa a Gestiona i mantenim algunes funcionalitats del projecte Factory a Anexa.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905000" y="4004270"/>
              <a:ext cx="5562600" cy="731441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00000"/>
                </a:lnSpc>
              </a:pPr>
              <a:r>
                <a:rPr sz="5760" b="1" i="0">
                  <a:solidFill>
                    <a:srgbClr val="7FB927"/>
                  </a:solidFill>
                  <a:latin typeface="Roboto"/>
                </a:rPr>
                <a:t>1T 2027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905000" y="4811911"/>
              <a:ext cx="5562600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1520" b="0" i="0">
                  <a:solidFill>
                    <a:srgbClr val="3D5C66"/>
                  </a:solidFill>
                  <a:latin typeface="Roboto"/>
                </a:rPr>
                <a:t>Arrencada · 28 de febrer de 2027*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905000" y="5396111"/>
              <a:ext cx="5486400" cy="495300"/>
            </a:xfrm>
            <a:prstGeom prst="rect">
              <a:avLst/>
            </a:prstGeom>
            <a:noFill/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5" name="Rectangle 14"/>
            <p:cNvSpPr/>
            <p:nvPr/>
          </p:nvSpPr>
          <p:spPr>
            <a:xfrm>
              <a:off x="1905000" y="5396111"/>
              <a:ext cx="5486400" cy="12700"/>
            </a:xfrm>
            <a:prstGeom prst="rect">
              <a:avLst/>
            </a:prstGeom>
            <a:solidFill>
              <a:srgbClr val="D4DEE3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6" name="TextBox 15"/>
            <p:cNvSpPr txBox="1"/>
            <p:nvPr/>
          </p:nvSpPr>
          <p:spPr>
            <a:xfrm>
              <a:off x="1905000" y="5535811"/>
              <a:ext cx="1437084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1472" b="0" i="0">
                  <a:solidFill>
                    <a:srgbClr val="3D5C66"/>
                  </a:solidFill>
                  <a:latin typeface="Roboto"/>
                </a:rPr>
                <a:t>Inici del projecte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982097" y="5535811"/>
              <a:ext cx="1409303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r">
                <a:lnSpc>
                  <a:spcPct val="120000"/>
                </a:lnSpc>
              </a:pPr>
              <a:r>
                <a:rPr sz="1472" b="0" i="0">
                  <a:solidFill>
                    <a:srgbClr val="003040"/>
                  </a:solidFill>
                  <a:latin typeface="Roboto"/>
                </a:rPr>
                <a:t>Novembre 2026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905000" y="5891411"/>
              <a:ext cx="5486400" cy="495300"/>
            </a:xfrm>
            <a:prstGeom prst="rect">
              <a:avLst/>
            </a:prstGeom>
            <a:noFill/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19" name="Rectangle 18"/>
            <p:cNvSpPr/>
            <p:nvPr/>
          </p:nvSpPr>
          <p:spPr>
            <a:xfrm>
              <a:off x="1905000" y="5891411"/>
              <a:ext cx="5486400" cy="12700"/>
            </a:xfrm>
            <a:prstGeom prst="rect">
              <a:avLst/>
            </a:prstGeom>
            <a:solidFill>
              <a:srgbClr val="D4DEE3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0" name="TextBox 19"/>
            <p:cNvSpPr txBox="1"/>
            <p:nvPr/>
          </p:nvSpPr>
          <p:spPr>
            <a:xfrm>
              <a:off x="1905000" y="6031111"/>
              <a:ext cx="2654895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1472" b="0" i="0">
                  <a:solidFill>
                    <a:srgbClr val="3D5C66"/>
                  </a:solidFill>
                  <a:latin typeface="Roboto"/>
                </a:rPr>
                <a:t>Migració d'expedients i registre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581055" y="6031111"/>
              <a:ext cx="1810345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r">
                <a:lnSpc>
                  <a:spcPct val="120000"/>
                </a:lnSpc>
              </a:pPr>
              <a:r>
                <a:rPr sz="1472" b="0" i="0">
                  <a:solidFill>
                    <a:srgbClr val="003040"/>
                  </a:solidFill>
                  <a:latin typeface="Roboto"/>
                </a:rPr>
                <a:t>28 de febrer de 2027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1905000" y="6386711"/>
              <a:ext cx="5486400" cy="495300"/>
            </a:xfrm>
            <a:prstGeom prst="rect">
              <a:avLst/>
            </a:prstGeom>
            <a:noFill/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3" name="Rectangle 22"/>
            <p:cNvSpPr/>
            <p:nvPr/>
          </p:nvSpPr>
          <p:spPr>
            <a:xfrm>
              <a:off x="1905000" y="6386711"/>
              <a:ext cx="5486400" cy="12700"/>
            </a:xfrm>
            <a:prstGeom prst="rect">
              <a:avLst/>
            </a:prstGeom>
            <a:solidFill>
              <a:srgbClr val="D4DEE3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4" name="TextBox 23"/>
            <p:cNvSpPr txBox="1"/>
            <p:nvPr/>
          </p:nvSpPr>
          <p:spPr>
            <a:xfrm>
              <a:off x="1905000" y="6526411"/>
              <a:ext cx="1867694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1472" b="0" i="0">
                  <a:solidFill>
                    <a:srgbClr val="3D5C66"/>
                  </a:solidFill>
                  <a:latin typeface="Roboto"/>
                </a:rPr>
                <a:t>Evolutius de producte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5581055" y="6526411"/>
              <a:ext cx="1810345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r">
                <a:lnSpc>
                  <a:spcPct val="120000"/>
                </a:lnSpc>
              </a:pPr>
              <a:r>
                <a:rPr sz="1472" b="0" i="0">
                  <a:solidFill>
                    <a:srgbClr val="003040"/>
                  </a:solidFill>
                  <a:latin typeface="Roboto"/>
                </a:rPr>
                <a:t>28 de febrer de 2027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905000" y="6882011"/>
              <a:ext cx="5486400" cy="495300"/>
            </a:xfrm>
            <a:prstGeom prst="rect">
              <a:avLst/>
            </a:prstGeom>
            <a:noFill/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7" name="Rectangle 26"/>
            <p:cNvSpPr/>
            <p:nvPr/>
          </p:nvSpPr>
          <p:spPr>
            <a:xfrm>
              <a:off x="1905000" y="6882011"/>
              <a:ext cx="5486400" cy="12700"/>
            </a:xfrm>
            <a:prstGeom prst="rect">
              <a:avLst/>
            </a:prstGeom>
            <a:solidFill>
              <a:srgbClr val="D4DEE3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28" name="TextBox 27"/>
            <p:cNvSpPr txBox="1"/>
            <p:nvPr/>
          </p:nvSpPr>
          <p:spPr>
            <a:xfrm>
              <a:off x="1905000" y="7021711"/>
              <a:ext cx="2217341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1472" b="0" i="0">
                  <a:solidFill>
                    <a:srgbClr val="3D5C66"/>
                  </a:solidFill>
                  <a:latin typeface="Roboto"/>
                </a:rPr>
                <a:t>Projecte Gestiona Factory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341541" y="7021711"/>
              <a:ext cx="2049859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r">
                <a:lnSpc>
                  <a:spcPct val="120000"/>
                </a:lnSpc>
              </a:pPr>
              <a:r>
                <a:rPr sz="1472" b="0" i="0">
                  <a:solidFill>
                    <a:srgbClr val="003040"/>
                  </a:solidFill>
                  <a:latin typeface="Roboto"/>
                </a:rPr>
                <a:t>Gener – setembre 2027</a:t>
              </a:r>
            </a:p>
          </p:txBody>
        </p:sp>
      </p:grpSp>
      <p:grpSp>
        <p:nvGrpSpPr>
          <p:cNvPr id="30" name="Fase 2"/>
          <p:cNvGrpSpPr/>
          <p:nvPr/>
        </p:nvGrpSpPr>
        <p:grpSpPr>
          <a:xfrm>
            <a:off x="8356600" y="1829395"/>
            <a:ext cx="6502400" cy="6005116"/>
            <a:chOff x="8356600" y="1829395"/>
            <a:chExt cx="6502400" cy="6005116"/>
          </a:xfrm>
        </p:grpSpPr>
        <p:sp>
          <p:nvSpPr>
            <p:cNvPr id="31" name="Rounded Rectangle 30"/>
            <p:cNvSpPr/>
            <p:nvPr/>
          </p:nvSpPr>
          <p:spPr>
            <a:xfrm>
              <a:off x="8356600" y="1829395"/>
              <a:ext cx="6502400" cy="6005116"/>
            </a:xfrm>
            <a:prstGeom prst="roundRect">
              <a:avLst>
                <a:gd name="adj" fmla="val 2960"/>
              </a:avLst>
            </a:prstGeom>
            <a:solidFill>
              <a:srgbClr val="7FB927"/>
            </a:solidFill>
            <a:effectLst/>
            <a:ln>
              <a:noFill/>
            </a:ln>
            <a:effectLst>
              <a:outerShdw blurRad="203200" dist="25400" dir="5400000" algn="ctr" rotWithShape="0">
                <a:srgbClr val="003040">
                  <a:alpha val="6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2" name="Rounded Rectangle 31"/>
            <p:cNvSpPr/>
            <p:nvPr/>
          </p:nvSpPr>
          <p:spPr>
            <a:xfrm>
              <a:off x="8356600" y="1880195"/>
              <a:ext cx="6502400" cy="5954316"/>
            </a:xfrm>
            <a:prstGeom prst="roundRect">
              <a:avLst>
                <a:gd name="adj" fmla="val 2986"/>
              </a:avLst>
            </a:prstGeom>
            <a:solidFill>
              <a:srgbClr val="ECF0F3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3" name="TextBox 32"/>
            <p:cNvSpPr txBox="1"/>
            <p:nvPr/>
          </p:nvSpPr>
          <p:spPr>
            <a:xfrm>
              <a:off x="8864600" y="2388195"/>
              <a:ext cx="5562600" cy="355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2400" b="1" i="0">
                  <a:solidFill>
                    <a:srgbClr val="003040"/>
                  </a:solidFill>
                  <a:latin typeface="Roboto"/>
                </a:rPr>
                <a:t>Gestiona integrat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864600" y="2870795"/>
              <a:ext cx="5511800" cy="828675"/>
            </a:xfrm>
            <a:prstGeom prst="rect">
              <a:avLst/>
            </a:prstGeom>
            <a:noFill/>
          </p:spPr>
          <p:txBody>
            <a:bodyPr wrap="square" lIns="0" rIns="0" tIns="0" bIns="0" anchor="t"/>
            <a:lstStyle/>
            <a:p>
              <a:pPr algn="l">
                <a:lnSpc>
                  <a:spcPct val="150000"/>
                </a:lnSpc>
              </a:pPr>
              <a:r>
                <a:rPr sz="1500" b="0" i="0">
                  <a:solidFill>
                    <a:srgbClr val="3D5C66"/>
                  </a:solidFill>
                  <a:latin typeface="Roboto"/>
                </a:rPr>
                <a:t>Condicionem la data d'arrencada al desenvolupament d'un projecte de Gestiona integrat.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864600" y="4004270"/>
              <a:ext cx="5562600" cy="731441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00000"/>
                </a:lnSpc>
              </a:pPr>
              <a:r>
                <a:rPr sz="5760" b="1" i="0">
                  <a:solidFill>
                    <a:srgbClr val="7FB927"/>
                  </a:solidFill>
                  <a:latin typeface="Roboto"/>
                </a:rPr>
                <a:t>3T 2027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8864600" y="4811911"/>
              <a:ext cx="5562600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1520" b="0" i="0">
                  <a:solidFill>
                    <a:srgbClr val="3D5C66"/>
                  </a:solidFill>
                  <a:latin typeface="Roboto"/>
                </a:rPr>
                <a:t>Arrencada · 17 de setembre de 2027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8864600" y="5396111"/>
              <a:ext cx="5486400" cy="495300"/>
            </a:xfrm>
            <a:prstGeom prst="rect">
              <a:avLst/>
            </a:prstGeom>
            <a:noFill/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8" name="Rectangle 37"/>
            <p:cNvSpPr/>
            <p:nvPr/>
          </p:nvSpPr>
          <p:spPr>
            <a:xfrm>
              <a:off x="8864600" y="5396111"/>
              <a:ext cx="5486400" cy="12700"/>
            </a:xfrm>
            <a:prstGeom prst="rect">
              <a:avLst/>
            </a:prstGeom>
            <a:solidFill>
              <a:srgbClr val="D4DEE3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39" name="TextBox 38"/>
            <p:cNvSpPr txBox="1"/>
            <p:nvPr/>
          </p:nvSpPr>
          <p:spPr>
            <a:xfrm>
              <a:off x="8864600" y="5535811"/>
              <a:ext cx="1437084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1472" b="0" i="0">
                  <a:solidFill>
                    <a:srgbClr val="3D5C66"/>
                  </a:solidFill>
                  <a:latin typeface="Roboto"/>
                </a:rPr>
                <a:t>Inici del projecte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3305433" y="5535811"/>
              <a:ext cx="1045567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r">
                <a:lnSpc>
                  <a:spcPct val="120000"/>
                </a:lnSpc>
              </a:pPr>
              <a:r>
                <a:rPr sz="1472" b="0" i="0">
                  <a:solidFill>
                    <a:srgbClr val="003040"/>
                  </a:solidFill>
                  <a:latin typeface="Roboto"/>
                </a:rPr>
                <a:t>Gener 2027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8864600" y="5891411"/>
              <a:ext cx="5486400" cy="495300"/>
            </a:xfrm>
            <a:prstGeom prst="rect">
              <a:avLst/>
            </a:prstGeom>
            <a:noFill/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2" name="Rectangle 41"/>
            <p:cNvSpPr/>
            <p:nvPr/>
          </p:nvSpPr>
          <p:spPr>
            <a:xfrm>
              <a:off x="8864600" y="5891411"/>
              <a:ext cx="5486400" cy="12700"/>
            </a:xfrm>
            <a:prstGeom prst="rect">
              <a:avLst/>
            </a:prstGeom>
            <a:solidFill>
              <a:srgbClr val="D4DEE3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3" name="TextBox 42"/>
            <p:cNvSpPr txBox="1"/>
            <p:nvPr/>
          </p:nvSpPr>
          <p:spPr>
            <a:xfrm>
              <a:off x="8864600" y="6031111"/>
              <a:ext cx="1887141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1472" b="0" i="0">
                  <a:solidFill>
                    <a:srgbClr val="3D5C66"/>
                  </a:solidFill>
                  <a:latin typeface="Roboto"/>
                </a:rPr>
                <a:t>Migració d'expedients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12249150" y="6031111"/>
              <a:ext cx="2101850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r">
                <a:lnSpc>
                  <a:spcPct val="120000"/>
                </a:lnSpc>
              </a:pPr>
              <a:r>
                <a:rPr sz="1472" b="0" i="0">
                  <a:solidFill>
                    <a:srgbClr val="003040"/>
                  </a:solidFill>
                  <a:latin typeface="Roboto"/>
                </a:rPr>
                <a:t>17 de setembre de 2027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8864600" y="6386711"/>
              <a:ext cx="5486400" cy="495300"/>
            </a:xfrm>
            <a:prstGeom prst="rect">
              <a:avLst/>
            </a:prstGeom>
            <a:noFill/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6" name="Rectangle 45"/>
            <p:cNvSpPr/>
            <p:nvPr/>
          </p:nvSpPr>
          <p:spPr>
            <a:xfrm>
              <a:off x="8864600" y="6386711"/>
              <a:ext cx="5486400" cy="12700"/>
            </a:xfrm>
            <a:prstGeom prst="rect">
              <a:avLst/>
            </a:prstGeom>
            <a:solidFill>
              <a:srgbClr val="D4DEE3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47" name="TextBox 46"/>
            <p:cNvSpPr txBox="1"/>
            <p:nvPr/>
          </p:nvSpPr>
          <p:spPr>
            <a:xfrm>
              <a:off x="8864600" y="6526411"/>
              <a:ext cx="1867694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1472" b="0" i="0">
                  <a:solidFill>
                    <a:srgbClr val="3D5C66"/>
                  </a:solidFill>
                  <a:latin typeface="Roboto"/>
                </a:rPr>
                <a:t>Evolutius de producte</a:t>
              </a:r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12249150" y="6526411"/>
              <a:ext cx="2101850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r">
                <a:lnSpc>
                  <a:spcPct val="120000"/>
                </a:lnSpc>
              </a:pPr>
              <a:r>
                <a:rPr sz="1472" b="0" i="0">
                  <a:solidFill>
                    <a:srgbClr val="003040"/>
                  </a:solidFill>
                  <a:latin typeface="Roboto"/>
                </a:rPr>
                <a:t>17 de setembre de 2027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864600" y="6882011"/>
              <a:ext cx="5486400" cy="495300"/>
            </a:xfrm>
            <a:prstGeom prst="rect">
              <a:avLst/>
            </a:prstGeom>
            <a:noFill/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0" name="Rectangle 49"/>
            <p:cNvSpPr/>
            <p:nvPr/>
          </p:nvSpPr>
          <p:spPr>
            <a:xfrm>
              <a:off x="8864600" y="6882011"/>
              <a:ext cx="5486400" cy="12700"/>
            </a:xfrm>
            <a:prstGeom prst="rect">
              <a:avLst/>
            </a:prstGeom>
            <a:solidFill>
              <a:srgbClr val="D4DEE3"/>
            </a:solidFill>
            <a:effectLst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/>
          </p:txBody>
        </p:sp>
        <p:sp>
          <p:nvSpPr>
            <p:cNvPr id="51" name="TextBox 50"/>
            <p:cNvSpPr txBox="1"/>
            <p:nvPr/>
          </p:nvSpPr>
          <p:spPr>
            <a:xfrm>
              <a:off x="8864600" y="7021711"/>
              <a:ext cx="2217341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20000"/>
                </a:lnSpc>
              </a:pPr>
              <a:r>
                <a:rPr sz="1472" b="0" i="0">
                  <a:solidFill>
                    <a:srgbClr val="3D5C66"/>
                  </a:solidFill>
                  <a:latin typeface="Roboto"/>
                </a:rPr>
                <a:t>Projecte Gestiona Factory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12301141" y="7021711"/>
              <a:ext cx="2049859" cy="22860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r">
                <a:lnSpc>
                  <a:spcPct val="120000"/>
                </a:lnSpc>
              </a:pPr>
              <a:r>
                <a:rPr sz="1472" b="0" i="0">
                  <a:solidFill>
                    <a:srgbClr val="003040"/>
                  </a:solidFill>
                  <a:latin typeface="Roboto"/>
                </a:rPr>
                <a:t>Gener – setembre 2027</a:t>
              </a:r>
            </a:p>
          </p:txBody>
        </p:sp>
      </p:grpSp>
      <p:grpSp>
        <p:nvGrpSpPr>
          <p:cNvPr id="53" name="Fase 1"/>
          <p:cNvGrpSpPr/>
          <p:nvPr/>
        </p:nvGrpSpPr>
        <p:grpSpPr>
          <a:xfrm>
            <a:off x="1397000" y="8037711"/>
            <a:ext cx="13538200" cy="267494"/>
            <a:chOff x="1397000" y="8037711"/>
            <a:chExt cx="13538200" cy="267494"/>
          </a:xfrm>
        </p:grpSpPr>
        <p:sp>
          <p:nvSpPr>
            <p:cNvPr id="54" name="TextBox 53"/>
            <p:cNvSpPr txBox="1"/>
            <p:nvPr/>
          </p:nvSpPr>
          <p:spPr>
            <a:xfrm>
              <a:off x="1397000" y="8037711"/>
              <a:ext cx="13538200" cy="26749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l">
                <a:lnSpc>
                  <a:spcPct val="154999"/>
                </a:lnSpc>
              </a:pPr>
              <a:r>
                <a:rPr sz="1360" b="0" i="0">
                  <a:solidFill>
                    <a:srgbClr val="3D5C66"/>
                  </a:solidFill>
                  <a:latin typeface="Roboto"/>
                </a:rPr>
                <a:t>* Data condicionada al desplegament.</a:t>
              </a:r>
            </a:p>
          </p:txBody>
        </p:sp>
      </p:grpSp>
      <p:sp>
        <p:nvSpPr>
          <p:cNvPr id="55" name="TextBox 54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53" grpId="0"/>
      <p:bldP spid="30" grpId="0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Gestiona + Anexa · Arrencada el 28 de febrer de 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622800" y="2260600"/>
            <a:ext cx="355600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462280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978400" y="2260600"/>
            <a:ext cx="871934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97840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50334" y="2260600"/>
            <a:ext cx="872133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850334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722467" y="2260600"/>
            <a:ext cx="871934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722467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594402" y="2260600"/>
            <a:ext cx="1744266" cy="5244902"/>
          </a:xfrm>
          <a:prstGeom prst="rect">
            <a:avLst/>
          </a:prstGeom>
          <a:solidFill>
            <a:srgbClr val="7FB927">
              <a:alpha val="12000"/>
            </a:srgbClr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7594402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9338667" y="2260600"/>
            <a:ext cx="871934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9338667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10210602" y="2260600"/>
            <a:ext cx="872133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0210602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1082734" y="2260600"/>
            <a:ext cx="872133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11082734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1954867" y="2260600"/>
            <a:ext cx="871934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1954867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12826802" y="2260600"/>
            <a:ext cx="872133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12826802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3698934" y="2260600"/>
            <a:ext cx="872133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13698934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14571067" y="2260600"/>
            <a:ext cx="871934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14571067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15430302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812800" y="2260600"/>
            <a:ext cx="14630400" cy="3810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812800" y="2616200"/>
            <a:ext cx="14630400" cy="25400"/>
          </a:xfrm>
          <a:prstGeom prst="rect">
            <a:avLst/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940300" y="2349500"/>
            <a:ext cx="948134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NOV.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12234" y="2349500"/>
            <a:ext cx="948333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DES.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84367" y="2349500"/>
            <a:ext cx="948134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GEN.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56302" y="2349500"/>
            <a:ext cx="1820466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5A8A17"/>
                </a:solidFill>
                <a:latin typeface="Roboto"/>
              </a:rPr>
              <a:t>FEBRER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00567" y="2349500"/>
            <a:ext cx="948134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MARÇ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2502" y="2349500"/>
            <a:ext cx="948333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ABR.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44634" y="2349500"/>
            <a:ext cx="948333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MAIG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916767" y="2349500"/>
            <a:ext cx="948134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JUNY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788702" y="2349500"/>
            <a:ext cx="948333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JUL.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660834" y="2349500"/>
            <a:ext cx="948333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AG.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532967" y="2349500"/>
            <a:ext cx="948134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SET.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800" y="2641600"/>
            <a:ext cx="14706600" cy="317500"/>
          </a:xfrm>
          <a:prstGeom prst="rect">
            <a:avLst/>
          </a:prstGeom>
          <a:noFill/>
        </p:spPr>
        <p:txBody>
          <a:bodyPr wrap="none" lIns="0" rIns="0" tIns="101600" bIns="38100" anchor="t"/>
          <a:lstStyle/>
          <a:p>
            <a:pPr algn="l">
              <a:lnSpc>
                <a:spcPct val="120000"/>
              </a:lnSpc>
            </a:pPr>
            <a:r>
              <a:rPr sz="1150" b="1" i="0" spc="60">
                <a:solidFill>
                  <a:srgbClr val="5A8A17"/>
                </a:solidFill>
                <a:latin typeface="Roboto"/>
              </a:rPr>
              <a:t>VESSANT JURÍDICA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2800" y="3031530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Presa d'acords</a:t>
            </a:r>
          </a:p>
        </p:txBody>
      </p:sp>
      <p:sp>
        <p:nvSpPr>
          <p:cNvPr id="47" name="Rounded Rectangle 46"/>
          <p:cNvSpPr/>
          <p:nvPr/>
        </p:nvSpPr>
        <p:spPr>
          <a:xfrm rot="2700000">
            <a:off x="4718050" y="3048000"/>
            <a:ext cx="165100" cy="165100"/>
          </a:xfrm>
          <a:prstGeom prst="roundRect">
            <a:avLst>
              <a:gd name="adj" fmla="val 15384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12800" y="3374430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Formació en línia bàsica de Gestiona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747867" y="3390900"/>
            <a:ext cx="821134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12800" y="3717330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Procés de ratificacions</a:t>
            </a:r>
          </a:p>
        </p:txBody>
      </p:sp>
      <p:sp>
        <p:nvSpPr>
          <p:cNvPr id="51" name="Rounded Rectangle 50"/>
          <p:cNvSpPr/>
          <p:nvPr/>
        </p:nvSpPr>
        <p:spPr>
          <a:xfrm rot="2700000">
            <a:off x="9038034" y="3733800"/>
            <a:ext cx="165100" cy="165100"/>
          </a:xfrm>
          <a:prstGeom prst="roundRect">
            <a:avLst>
              <a:gd name="adj" fmla="val 15384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812800" y="3987800"/>
            <a:ext cx="3835400" cy="398661"/>
          </a:xfrm>
          <a:prstGeom prst="rect">
            <a:avLst/>
          </a:prstGeom>
          <a:noFill/>
        </p:spPr>
        <p:txBody>
          <a:bodyPr wrap="squar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Arrencada · Registre, Seu electrònica i Gestor d'expedients</a:t>
            </a:r>
            <a:r>
              <a:rPr sz="1150" b="0" i="0">
                <a:solidFill>
                  <a:srgbClr val="5A7A84"/>
                </a:solidFill>
                <a:latin typeface="Roboto"/>
              </a:rPr>
              <a:t> · formació presencial i suport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28100" y="4104481"/>
            <a:ext cx="1257300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12800" y="44588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Arrencada · Analítica de dades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364067" y="4475361"/>
            <a:ext cx="821134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12800" y="48017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Certificació Configuració avançada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364067" y="4818261"/>
            <a:ext cx="4309467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12800" y="51446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Certificació Analítica de dades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1108134" y="5161161"/>
            <a:ext cx="2565400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12800" y="5415161"/>
            <a:ext cx="14706600" cy="317500"/>
          </a:xfrm>
          <a:prstGeom prst="rect">
            <a:avLst/>
          </a:prstGeom>
          <a:noFill/>
        </p:spPr>
        <p:txBody>
          <a:bodyPr wrap="none" lIns="0" rIns="0" tIns="101600" bIns="38100" anchor="t"/>
          <a:lstStyle/>
          <a:p>
            <a:pPr algn="l">
              <a:lnSpc>
                <a:spcPct val="120000"/>
              </a:lnSpc>
            </a:pPr>
            <a:r>
              <a:rPr sz="1150" b="1" i="0" spc="60">
                <a:solidFill>
                  <a:srgbClr val="AA9944"/>
                </a:solidFill>
                <a:latin typeface="Roboto"/>
              </a:rPr>
              <a:t>VESSANT TÈCNICA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2800" y="58050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Migració d'expedients i registre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003800" y="5821561"/>
            <a:ext cx="4309467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812800" y="61479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Evolutius de producte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03800" y="6164461"/>
            <a:ext cx="4309467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812800" y="6489502"/>
            <a:ext cx="3886200" cy="200620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Interoperabilitat AOC</a:t>
            </a:r>
            <a:r>
              <a:rPr sz="1150" b="0" i="0">
                <a:solidFill>
                  <a:srgbClr val="5A7A84"/>
                </a:solidFill>
                <a:latin typeface="Roboto"/>
              </a:rPr>
              <a:t> · altes i activació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875734" y="6507361"/>
            <a:ext cx="1693466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ounded Rectangle 66"/>
          <p:cNvSpPr/>
          <p:nvPr/>
        </p:nvSpPr>
        <p:spPr>
          <a:xfrm rot="2700000">
            <a:off x="9038034" y="6507361"/>
            <a:ext cx="165100" cy="165100"/>
          </a:xfrm>
          <a:prstGeom prst="roundRect">
            <a:avLst>
              <a:gd name="adj" fmla="val 15384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812800" y="6761361"/>
            <a:ext cx="3835400" cy="401241"/>
          </a:xfrm>
          <a:prstGeom prst="rect">
            <a:avLst/>
          </a:prstGeom>
          <a:noFill/>
        </p:spPr>
        <p:txBody>
          <a:bodyPr wrap="squar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Projecte Gestiona Factory</a:t>
            </a:r>
            <a:r>
              <a:rPr sz="1150" b="0" i="0">
                <a:solidFill>
                  <a:srgbClr val="5A7A84"/>
                </a:solidFill>
                <a:latin typeface="Roboto"/>
              </a:rPr>
              <a:t> · SARCAT, Cens DPD, Publicació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747867" y="6879431"/>
            <a:ext cx="8669734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12800" y="723503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Certificació Developers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364067" y="7251502"/>
            <a:ext cx="4309467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1604228" y="7683302"/>
            <a:ext cx="1228923" cy="1905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D5C66"/>
                </a:solidFill>
                <a:latin typeface="Roboto"/>
              </a:rPr>
              <a:t>Vessant jurídica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223228" y="7734102"/>
            <a:ext cx="279400" cy="889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13468152" y="7683302"/>
            <a:ext cx="1227733" cy="1905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D5C66"/>
                </a:solidFill>
                <a:latin typeface="Roboto"/>
              </a:rPr>
              <a:t>Vessant tècnica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3087152" y="7734102"/>
            <a:ext cx="279400" cy="889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5178484" y="7683302"/>
            <a:ext cx="366316" cy="1905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D5C66"/>
                </a:solidFill>
                <a:latin typeface="Roboto"/>
              </a:rPr>
              <a:t>Fita</a:t>
            </a:r>
          </a:p>
        </p:txBody>
      </p:sp>
      <p:sp>
        <p:nvSpPr>
          <p:cNvPr id="77" name="Rounded Rectangle 76"/>
          <p:cNvSpPr/>
          <p:nvPr/>
        </p:nvSpPr>
        <p:spPr>
          <a:xfrm rot="2700000">
            <a:off x="14949884" y="7715052"/>
            <a:ext cx="127000" cy="127000"/>
          </a:xfrm>
          <a:prstGeom prst="roundRect">
            <a:avLst>
              <a:gd name="adj" fmla="val 20000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812800" y="812800"/>
            <a:ext cx="14630400" cy="5334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12800" y="812800"/>
            <a:ext cx="63500" cy="533400"/>
          </a:xfrm>
          <a:prstGeom prst="rect">
            <a:avLst/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12800" y="812800"/>
            <a:ext cx="14706600" cy="533400"/>
          </a:xfrm>
          <a:prstGeom prst="rect">
            <a:avLst/>
          </a:prstGeom>
          <a:noFill/>
        </p:spPr>
        <p:txBody>
          <a:bodyPr wrap="none" lIns="254000" rIns="0" tIns="0" bIns="0" anchor="t"/>
          <a:lstStyle/>
          <a:p>
            <a:pPr algn="l">
              <a:lnSpc>
                <a:spcPct val="120000"/>
              </a:lnSpc>
            </a:pPr>
            <a:r>
              <a:rPr sz="3600" b="1" i="0" spc="-30">
                <a:solidFill>
                  <a:srgbClr val="003040"/>
                </a:solidFill>
                <a:latin typeface="Roboto"/>
              </a:rPr>
              <a:t>Gestiona integrat · Arrencada el 17 de setembre de 2027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622800" y="2260600"/>
            <a:ext cx="355600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462280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4978400" y="2260600"/>
            <a:ext cx="1046361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97840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024761" y="2260600"/>
            <a:ext cx="1046559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024761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071320" y="2260600"/>
            <a:ext cx="1046361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07132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117681" y="2260600"/>
            <a:ext cx="1046559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117681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9164241" y="2260600"/>
            <a:ext cx="1046559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9164241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10210800" y="2260600"/>
            <a:ext cx="1046361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1021080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1257161" y="2260600"/>
            <a:ext cx="1046559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11257161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303720" y="2260600"/>
            <a:ext cx="1046361" cy="5244902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230372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13350081" y="2260600"/>
            <a:ext cx="2093119" cy="5244902"/>
          </a:xfrm>
          <a:prstGeom prst="rect">
            <a:avLst/>
          </a:prstGeom>
          <a:solidFill>
            <a:srgbClr val="7FB927">
              <a:alpha val="12000"/>
            </a:srgbClr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13350081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5430500" y="2260600"/>
            <a:ext cx="12700" cy="5244902"/>
          </a:xfrm>
          <a:prstGeom prst="rect">
            <a:avLst/>
          </a:prstGeom>
          <a:solidFill>
            <a:srgbClr val="D4DEE3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812800" y="2260600"/>
            <a:ext cx="14630400" cy="381000"/>
          </a:xfrm>
          <a:prstGeom prst="rect">
            <a:avLst/>
          </a:prstGeom>
          <a:noFill/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812800" y="2616200"/>
            <a:ext cx="14630400" cy="25400"/>
          </a:xfrm>
          <a:prstGeom prst="rect">
            <a:avLst/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940300" y="2349500"/>
            <a:ext cx="1122561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GEN.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6661" y="2349500"/>
            <a:ext cx="1122759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FEBR.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33220" y="2349500"/>
            <a:ext cx="1122561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MARÇ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9581" y="2349500"/>
            <a:ext cx="1122759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ABR.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26141" y="2349500"/>
            <a:ext cx="1122759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MAIG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72700" y="2349500"/>
            <a:ext cx="1122561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JUNY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19061" y="2349500"/>
            <a:ext cx="1122759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JUL.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65620" y="2349500"/>
            <a:ext cx="1122561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3D5C66"/>
                </a:solidFill>
                <a:latin typeface="Roboto"/>
              </a:rPr>
              <a:t>AG.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311981" y="2349500"/>
            <a:ext cx="2169319" cy="1778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1150" b="1" i="0" spc="30">
                <a:solidFill>
                  <a:srgbClr val="5A8A17"/>
                </a:solidFill>
                <a:latin typeface="Roboto"/>
              </a:rPr>
              <a:t>SETEMBRE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800" y="2641600"/>
            <a:ext cx="14706600" cy="317500"/>
          </a:xfrm>
          <a:prstGeom prst="rect">
            <a:avLst/>
          </a:prstGeom>
          <a:noFill/>
        </p:spPr>
        <p:txBody>
          <a:bodyPr wrap="none" lIns="0" rIns="0" tIns="101600" bIns="38100" anchor="t"/>
          <a:lstStyle/>
          <a:p>
            <a:pPr algn="l">
              <a:lnSpc>
                <a:spcPct val="120000"/>
              </a:lnSpc>
            </a:pPr>
            <a:r>
              <a:rPr sz="1150" b="1" i="0" spc="60">
                <a:solidFill>
                  <a:srgbClr val="5A8A17"/>
                </a:solidFill>
                <a:latin typeface="Roboto"/>
              </a:rPr>
              <a:t>VESSANT JURÍDICA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800" y="3031530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Presa d'acords</a:t>
            </a:r>
          </a:p>
        </p:txBody>
      </p:sp>
      <p:sp>
        <p:nvSpPr>
          <p:cNvPr id="41" name="Rounded Rectangle 40"/>
          <p:cNvSpPr/>
          <p:nvPr/>
        </p:nvSpPr>
        <p:spPr>
          <a:xfrm rot="2700000">
            <a:off x="4718050" y="3048000"/>
            <a:ext cx="165100" cy="165100"/>
          </a:xfrm>
          <a:prstGeom prst="roundRect">
            <a:avLst>
              <a:gd name="adj" fmla="val 15384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12800" y="3374430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Formació en línia bàsica de Gestiona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2329120" y="3390900"/>
            <a:ext cx="995561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12800" y="3717330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Procés de ratificacions</a:t>
            </a:r>
          </a:p>
        </p:txBody>
      </p:sp>
      <p:sp>
        <p:nvSpPr>
          <p:cNvPr id="45" name="Rounded Rectangle 44"/>
          <p:cNvSpPr/>
          <p:nvPr/>
        </p:nvSpPr>
        <p:spPr>
          <a:xfrm rot="2700000">
            <a:off x="14575631" y="3733800"/>
            <a:ext cx="165100" cy="165100"/>
          </a:xfrm>
          <a:prstGeom prst="roundRect">
            <a:avLst>
              <a:gd name="adj" fmla="val 15384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2800" y="3987800"/>
            <a:ext cx="3835400" cy="398661"/>
          </a:xfrm>
          <a:prstGeom prst="rect">
            <a:avLst/>
          </a:prstGeom>
          <a:noFill/>
        </p:spPr>
        <p:txBody>
          <a:bodyPr wrap="squar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Arrencada · Registre, Seu electrònica i Gestor d'expedients</a:t>
            </a:r>
            <a:r>
              <a:rPr sz="1150" b="0" i="0">
                <a:solidFill>
                  <a:srgbClr val="5A7A84"/>
                </a:solidFill>
                <a:latin typeface="Roboto"/>
              </a:rPr>
              <a:t> · formació presencial i suport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4422041" y="4104481"/>
            <a:ext cx="995759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12800" y="44588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Arrencada · Analítica de dades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4422041" y="4475361"/>
            <a:ext cx="995759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12800" y="48017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Certificació Configuració avançada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03800" y="4818261"/>
            <a:ext cx="6227961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ounded Rectangle 51"/>
          <p:cNvSpPr/>
          <p:nvPr/>
        </p:nvSpPr>
        <p:spPr>
          <a:xfrm>
            <a:off x="14945320" y="4818261"/>
            <a:ext cx="472480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812800" y="51446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Certificació Analítica de dades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143081" y="5161161"/>
            <a:ext cx="4135239" cy="1651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12800" y="5415161"/>
            <a:ext cx="14706600" cy="317500"/>
          </a:xfrm>
          <a:prstGeom prst="rect">
            <a:avLst/>
          </a:prstGeom>
          <a:noFill/>
        </p:spPr>
        <p:txBody>
          <a:bodyPr wrap="none" lIns="0" rIns="0" tIns="101600" bIns="38100" anchor="t"/>
          <a:lstStyle/>
          <a:p>
            <a:pPr algn="l">
              <a:lnSpc>
                <a:spcPct val="120000"/>
              </a:lnSpc>
            </a:pPr>
            <a:r>
              <a:rPr sz="1150" b="1" i="0" spc="60">
                <a:solidFill>
                  <a:srgbClr val="AA9944"/>
                </a:solidFill>
                <a:latin typeface="Roboto"/>
              </a:rPr>
              <a:t>VESSANT TÈCNICA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2800" y="58050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Migració d'expedients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282561" y="5821561"/>
            <a:ext cx="3611959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12800" y="614799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Evolutius de producte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03800" y="6164461"/>
            <a:ext cx="9890720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12800" y="6489502"/>
            <a:ext cx="3886200" cy="200620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Interoperabilitat AOC</a:t>
            </a:r>
            <a:r>
              <a:rPr sz="1150" b="0" i="0">
                <a:solidFill>
                  <a:srgbClr val="5A7A84"/>
                </a:solidFill>
                <a:latin typeface="Roboto"/>
              </a:rPr>
              <a:t> · altes i activació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1282561" y="6507361"/>
            <a:ext cx="2042120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ounded Rectangle 61"/>
          <p:cNvSpPr/>
          <p:nvPr/>
        </p:nvSpPr>
        <p:spPr>
          <a:xfrm rot="2700000">
            <a:off x="14575631" y="6507361"/>
            <a:ext cx="165100" cy="165100"/>
          </a:xfrm>
          <a:prstGeom prst="roundRect">
            <a:avLst>
              <a:gd name="adj" fmla="val 15384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812800" y="6761361"/>
            <a:ext cx="3835400" cy="401241"/>
          </a:xfrm>
          <a:prstGeom prst="rect">
            <a:avLst/>
          </a:prstGeom>
          <a:noFill/>
        </p:spPr>
        <p:txBody>
          <a:bodyPr wrap="squar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Projecte Gestiona Factory</a:t>
            </a:r>
            <a:r>
              <a:rPr sz="1150" b="0" i="0">
                <a:solidFill>
                  <a:srgbClr val="5A7A84"/>
                </a:solidFill>
                <a:latin typeface="Roboto"/>
              </a:rPr>
              <a:t> · SARCAT, Cens DPD, Publicació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03800" y="6879431"/>
            <a:ext cx="10414000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812800" y="7235031"/>
            <a:ext cx="3886200" cy="198041"/>
          </a:xfrm>
          <a:prstGeom prst="rect">
            <a:avLst/>
          </a:prstGeom>
          <a:noFill/>
        </p:spPr>
        <p:txBody>
          <a:bodyPr wrap="none" lIns="0" rIns="177800" tIns="0" bIns="0" anchor="t"/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A3A44"/>
                </a:solidFill>
                <a:latin typeface="Roboto"/>
              </a:rPr>
              <a:t>Certificació Developers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03800" y="7251502"/>
            <a:ext cx="6227961" cy="1651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11604228" y="7683302"/>
            <a:ext cx="1228923" cy="1905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D5C66"/>
                </a:solidFill>
                <a:latin typeface="Roboto"/>
              </a:rPr>
              <a:t>Vessant jurídica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223228" y="7734102"/>
            <a:ext cx="279400" cy="88900"/>
          </a:xfrm>
          <a:prstGeom prst="roundRect">
            <a:avLst>
              <a:gd name="adj" fmla="val 50000"/>
            </a:avLst>
          </a:prstGeom>
          <a:solidFill>
            <a:srgbClr val="7FB927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13468152" y="7683302"/>
            <a:ext cx="1227733" cy="1905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D5C66"/>
                </a:solidFill>
                <a:latin typeface="Roboto"/>
              </a:rPr>
              <a:t>Vessant tècnica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087152" y="7734102"/>
            <a:ext cx="279400" cy="88900"/>
          </a:xfrm>
          <a:prstGeom prst="roundRect">
            <a:avLst>
              <a:gd name="adj" fmla="val 50000"/>
            </a:avLst>
          </a:prstGeom>
          <a:solidFill>
            <a:srgbClr val="AA9944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15178484" y="7683302"/>
            <a:ext cx="366316" cy="19050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D5C66"/>
                </a:solidFill>
                <a:latin typeface="Roboto"/>
              </a:rPr>
              <a:t>Fita</a:t>
            </a:r>
          </a:p>
        </p:txBody>
      </p:sp>
      <p:sp>
        <p:nvSpPr>
          <p:cNvPr id="72" name="Rounded Rectangle 71"/>
          <p:cNvSpPr/>
          <p:nvPr/>
        </p:nvSpPr>
        <p:spPr>
          <a:xfrm rot="2700000">
            <a:off x="14949884" y="7715052"/>
            <a:ext cx="127000" cy="127000"/>
          </a:xfrm>
          <a:prstGeom prst="roundRect">
            <a:avLst>
              <a:gd name="adj" fmla="val 20000"/>
            </a:avLst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2446000" y="-1524000"/>
            <a:ext cx="5334000" cy="5334000"/>
          </a:xfrm>
          <a:prstGeom prst="roundRect">
            <a:avLst>
              <a:gd name="adj" fmla="val 11904"/>
            </a:avLst>
          </a:prstGeom>
          <a:gradFill rotWithShape="1">
            <a:gsLst>
              <a:gs pos="0">
                <a:srgbClr val="A8D165">
                  <a:alpha val="6000"/>
                </a:srgbClr>
              </a:gs>
              <a:gs pos="100000">
                <a:srgbClr val="7FB927">
                  <a:alpha val="6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-889000" y="5969000"/>
            <a:ext cx="4064000" cy="4064000"/>
          </a:xfrm>
          <a:prstGeom prst="roundRect">
            <a:avLst>
              <a:gd name="adj" fmla="val 15625"/>
            </a:avLst>
          </a:prstGeom>
          <a:gradFill rotWithShape="1">
            <a:gsLst>
              <a:gs pos="0">
                <a:srgbClr val="D2E8A8">
                  <a:alpha val="3000"/>
                </a:srgbClr>
              </a:gs>
              <a:gs pos="100000">
                <a:srgbClr val="5A8A17">
                  <a:alpha val="3000"/>
                </a:srgbClr>
              </a:gs>
            </a:gsLst>
            <a:path path="circle">
              <a:fillToRect l="50000" t="50000" r="50000" b="50000"/>
            </a:path>
          </a:gra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03040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637036" y="3930650"/>
            <a:ext cx="10981928" cy="7747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ctr">
              <a:lnSpc>
                <a:spcPct val="120000"/>
              </a:lnSpc>
            </a:pPr>
            <a:r>
              <a:rPr sz="5200" b="1" i="0" spc="-50">
                <a:solidFill>
                  <a:srgbClr val="FFFFFF"/>
                </a:solidFill>
                <a:latin typeface="Roboto"/>
              </a:rPr>
              <a:t>T'acompanyem fins on vulguis arribar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0" y="5060950"/>
            <a:ext cx="1016000" cy="50800"/>
          </a:xfrm>
          <a:prstGeom prst="roundRect">
            <a:avLst>
              <a:gd name="adj" fmla="val 50000"/>
            </a:avLst>
          </a:prstGeom>
          <a:solidFill>
            <a:srgbClr val="A8D165"/>
          </a:solidFill>
          <a:effectLst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-889000" y="5969000"/>
            <a:ext cx="4089400" cy="40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A3A44"/>
                </a:solidFill>
                <a:latin typeface="Roboto"/>
              </a:rPr>
              <a:t>none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:push dir="l"/>
      </p:transition>
    </mc:Choice>
    <mc:Fallback>
      <p:transition spd="slow">
        <p:push dir="l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