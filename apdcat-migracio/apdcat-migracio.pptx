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8262" y="3644503"/>
            <a:ext cx="11039277" cy="82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7999"/>
              </a:lnSpc>
            </a:pPr>
            <a:r>
              <a:rPr sz="6000" b="1" i="0" spc="-50">
                <a:solidFill>
                  <a:srgbClr val="003040"/>
                </a:solidFill>
                <a:latin typeface="Roboto"/>
              </a:rPr>
              <a:t>Proposta de migració a</a:t>
            </a:r>
            <a:r>
              <a:rPr sz="6000" b="1" i="0" spc="-50">
                <a:solidFill>
                  <a:srgbClr val="7FB927"/>
                </a:solidFill>
                <a:latin typeface="Roboto"/>
              </a:rPr>
              <a:t> Gestiona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0" y="4823023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85420" y="5077023"/>
            <a:ext cx="5084961" cy="2952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5000"/>
              </a:lnSpc>
            </a:pPr>
            <a:r>
              <a:rPr sz="1500" b="0" i="0">
                <a:solidFill>
                  <a:srgbClr val="3D5C66"/>
                </a:solidFill>
                <a:latin typeface="Roboto"/>
              </a:rPr>
              <a:t>Autoritat Catalana de Protecció de Dades · octubre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Punt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8411" y="3336925"/>
            <a:ext cx="6759178" cy="254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760" b="0" i="0" spc="70">
                <a:solidFill>
                  <a:srgbClr val="3D5C66"/>
                </a:solidFill>
                <a:latin typeface="Roboto"/>
              </a:rPr>
              <a:t>Compromís d'esPublico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811" y="3844925"/>
            <a:ext cx="6708378" cy="1365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Configurar el</a:t>
            </a:r>
            <a:r>
              <a:rPr sz="4480" b="1" i="0">
                <a:solidFill>
                  <a:srgbClr val="7FB927"/>
                </a:solidFill>
                <a:latin typeface="Roboto"/>
              </a:rPr>
              <a:t> bessó digital</a:t>
            </a:r>
          </a:p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de l'APDCAT a Gestiona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1600" y="5718175"/>
            <a:ext cx="812800" cy="381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48411" y="6264275"/>
            <a:ext cx="6759178" cy="53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3520" b="1" i="0">
                <a:solidFill>
                  <a:srgbClr val="7FB927"/>
                </a:solidFill>
                <a:latin typeface="Roboto"/>
              </a:rPr>
              <a:t>30 de setembre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Bessó digital: configuració realitzada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80742"/>
            <a:ext cx="5968802" cy="3973116"/>
          </a:xfrm>
          <a:prstGeom prst="roundRect">
            <a:avLst>
              <a:gd name="adj" fmla="val 4475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31542"/>
            <a:ext cx="5968802" cy="3922316"/>
          </a:xfrm>
          <a:prstGeom prst="roundRect">
            <a:avLst>
              <a:gd name="adj" fmla="val 4533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7659"/>
            <a:ext cx="5333802" cy="1117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10000"/>
              </a:lnSpc>
            </a:pPr>
            <a:r>
              <a:rPr sz="8000" b="1" i="0">
                <a:solidFill>
                  <a:srgbClr val="7FB927"/>
                </a:solidFill>
                <a:latin typeface="Roboto"/>
              </a:rPr>
              <a:t>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691459"/>
            <a:ext cx="5333802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reglades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8400" y="5366742"/>
            <a:ext cx="5257602" cy="13208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68400" y="5366742"/>
            <a:ext cx="5257602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26605" y="5684242"/>
            <a:ext cx="635992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297" y="6238677"/>
            <a:ext cx="1370608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procediments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08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9208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86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341" y="6238677"/>
            <a:ext cx="1394222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subprocessos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734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6734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312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5002" y="6238677"/>
            <a:ext cx="1562100" cy="44886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Al procediment genèric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4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0864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39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39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Camps personalitzats al tesaurus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171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14171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7346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346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Procediments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34602" y="4514850"/>
            <a:ext cx="33909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+2 duplicats amb versions alternatives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4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0864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039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39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Circuits de resolució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171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114171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7346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346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Subprocessos reglats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SG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3644900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Comunicació de la designació del DPD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1976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488" y="364490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660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Proposta de contractació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11760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0325" y="364490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0" y="3549650"/>
            <a:ext cx="1983581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0" y="3790950"/>
            <a:ext cx="1983581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menor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275" y="6108700"/>
            <a:ext cx="47625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387600" y="6013450"/>
            <a:ext cx="2332236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7600" y="6254750"/>
            <a:ext cx="2332236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no menor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912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7912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1976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300" y="6108700"/>
            <a:ext cx="3810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366000" y="6013450"/>
            <a:ext cx="183515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6000" y="6254750"/>
            <a:ext cx="1835150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Atenció pública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696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7696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11760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5075" y="6108700"/>
            <a:ext cx="47625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344400" y="6013450"/>
            <a:ext cx="19508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0" y="6254750"/>
            <a:ext cx="19508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Exercici de drets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AJ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7178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0" y="446405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88331" y="5365750"/>
            <a:ext cx="25731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PROC-AJ-01-CNS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8331" y="5607050"/>
            <a:ext cx="25731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de dictàmens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696200" y="40322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088" y="429895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59500" y="5200650"/>
            <a:ext cx="39878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PROC-AJ-02-PD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4900" y="5441950"/>
            <a:ext cx="39370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d'informe sobre disposicions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6746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8925" y="446405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11930" y="5365750"/>
            <a:ext cx="363954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PROC-AJ-12-IAI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11930" y="5607050"/>
            <a:ext cx="363954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Informe d'accés a la informació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088" y="3644900"/>
            <a:ext cx="428625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549650"/>
            <a:ext cx="34230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PROC-INS-004 · AIP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790950"/>
            <a:ext cx="34230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Accés a la informació pública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04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2804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6868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3644900"/>
            <a:ext cx="381000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55200" y="3549650"/>
            <a:ext cx="24705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PROC-INS-01-IP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5200" y="3790950"/>
            <a:ext cx="24705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Informacions prèvies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6108700"/>
            <a:ext cx="38100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387600" y="6013450"/>
            <a:ext cx="357008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PROC-INS-02-PT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00" y="6254750"/>
            <a:ext cx="357008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de tutela de drets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4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2804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868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6108700"/>
            <a:ext cx="38100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55200" y="6013450"/>
            <a:ext cx="299819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PROC-INS-03-PS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5200" y="6254750"/>
            <a:ext cx="299819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sancionador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Ús de l'entorn bessó a les proves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Usuaris creats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66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466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641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1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Expedients a la demo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04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804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79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79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Anotacions de registre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0142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20142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317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719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317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executades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Actuacions de l'equip de consultoria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03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9 i 10 de setembre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912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7912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087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7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7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28, 29 i 30 de setembre · 8 i 9 d'octubre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696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07696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0871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71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Especialistes en remot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71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Elena i Raúl · d'agost a la 1a setmana d'octubre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60800" y="5631855"/>
            <a:ext cx="5056981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608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17781" y="5631855"/>
            <a:ext cx="4894064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17781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811845" y="5631855"/>
            <a:ext cx="1631355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811845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54305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5631855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12800" y="5987455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822700" y="5720755"/>
            <a:ext cx="513318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9681" y="5720755"/>
            <a:ext cx="497026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SETEMBRE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73745" y="5720755"/>
            <a:ext cx="1707555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OCTUBRE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60852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Treball en remot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6101755"/>
            <a:ext cx="1104205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12800" y="64281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48305" y="64446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2800" y="67710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347700" y="6787555"/>
            <a:ext cx="43874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14979055" y="67875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045023" y="3562350"/>
            <a:ext cx="10165953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Proposta de projecte d'implantació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46926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33342" y="5073650"/>
            <a:ext cx="6589316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0000"/>
              </a:lnSpc>
            </a:pPr>
            <a:r>
              <a:rPr sz="2000" b="0" i="0">
                <a:solidFill>
                  <a:srgbClr val="FFFFFF"/>
                </a:solidFill>
                <a:latin typeface="Roboto"/>
              </a:rPr>
              <a:t>Del bessó digital a l'entorn real: dues opcions de calendari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dimensions del projecte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7FB927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3970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803400" y="3435152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475" y="3701852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34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7FB927"/>
                </a:solidFill>
                <a:latin typeface="Roboto"/>
              </a:rPr>
              <a:t>Vessant jurídica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34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8034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034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Gestió del canvi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34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8034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034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Configuració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6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AA9944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3566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63000" y="3435152"/>
            <a:ext cx="914400" cy="914400"/>
          </a:xfrm>
          <a:prstGeom prst="ellipse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2075" y="3701852"/>
            <a:ext cx="476250" cy="381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630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630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630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630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Projectes Factory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630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630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Migració de dades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Fases i fites del projecte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8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3528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147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1 · DISSENY I TRANSICIÓ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54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3754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373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2 · ACTIVACIÓ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80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3980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599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3 · DESPLEGAMENT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4206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4206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825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4 · CONSOLIDACIÓ</a:t>
            </a:r>
          </a:p>
        </p:txBody>
      </p:sp>
      <p:grpSp>
        <p:nvGrpSpPr>
          <p:cNvPr id="19" name="Fase 1"/>
          <p:cNvGrpSpPr/>
          <p:nvPr/>
        </p:nvGrpSpPr>
        <p:grpSpPr>
          <a:xfrm>
            <a:off x="812800" y="3939580"/>
            <a:ext cx="14516100" cy="975320"/>
            <a:chOff x="812800" y="3939580"/>
            <a:chExt cx="14516100" cy="975320"/>
          </a:xfrm>
        </p:grpSpPr>
        <p:sp>
          <p:nvSpPr>
            <p:cNvPr id="20" name="Rectangle 19"/>
            <p:cNvSpPr/>
            <p:nvPr/>
          </p:nvSpPr>
          <p:spPr>
            <a:xfrm>
              <a:off x="4864100" y="4091980"/>
              <a:ext cx="9067800" cy="25400"/>
            </a:xfrm>
            <a:prstGeom prst="rect">
              <a:avLst/>
            </a:prstGeom>
            <a:solidFill>
              <a:srgbClr val="7FB927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1295400" y="4003080"/>
              <a:ext cx="1790303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7FB927"/>
                  </a:solidFill>
                  <a:latin typeface="Roboto"/>
                </a:rPr>
                <a:t>Vessant jurídica</a:t>
              </a:r>
            </a:p>
          </p:txBody>
        </p:sp>
        <p:pic>
          <p:nvPicPr>
            <p:cNvPr id="22" name="Picture 21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2800" y="4004270"/>
              <a:ext cx="330200" cy="264120"/>
            </a:xfrm>
            <a:prstGeom prst="rect">
              <a:avLst/>
            </a:prstGeom>
          </p:spPr>
        </p:pic>
        <p:sp>
          <p:nvSpPr>
            <p:cNvPr id="23" name="Oval 22"/>
            <p:cNvSpPr/>
            <p:nvPr/>
          </p:nvSpPr>
          <p:spPr>
            <a:xfrm>
              <a:off x="46990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Oval 23"/>
            <p:cNvSpPr/>
            <p:nvPr/>
          </p:nvSpPr>
          <p:spPr>
            <a:xfrm>
              <a:off x="47625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TextBox 24"/>
            <p:cNvSpPr txBox="1"/>
            <p:nvPr/>
          </p:nvSpPr>
          <p:spPr>
            <a:xfrm>
              <a:off x="34671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Presa d'acords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671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Capacitació a l'Acadèmia Gestiona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7216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Oval 27"/>
            <p:cNvSpPr/>
            <p:nvPr/>
          </p:nvSpPr>
          <p:spPr>
            <a:xfrm>
              <a:off x="77851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TextBox 28"/>
            <p:cNvSpPr txBox="1"/>
            <p:nvPr/>
          </p:nvSpPr>
          <p:spPr>
            <a:xfrm>
              <a:off x="64897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Procés de ratificacions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97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Activació TVF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107442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Oval 31"/>
            <p:cNvSpPr/>
            <p:nvPr/>
          </p:nvSpPr>
          <p:spPr>
            <a:xfrm>
              <a:off x="108077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TextBox 32"/>
            <p:cNvSpPr txBox="1"/>
            <p:nvPr/>
          </p:nvSpPr>
          <p:spPr>
            <a:xfrm>
              <a:off x="95123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Arrencada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123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Registre · Seu · Gestor d'expedients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37668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Oval 35"/>
            <p:cNvSpPr/>
            <p:nvPr/>
          </p:nvSpPr>
          <p:spPr>
            <a:xfrm>
              <a:off x="138303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TextBox 36"/>
            <p:cNvSpPr txBox="1"/>
            <p:nvPr/>
          </p:nvSpPr>
          <p:spPr>
            <a:xfrm>
              <a:off x="125349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Operació ordinària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5349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Analítica de dades</a:t>
              </a:r>
            </a:p>
          </p:txBody>
        </p:sp>
      </p:grpSp>
      <p:grpSp>
        <p:nvGrpSpPr>
          <p:cNvPr id="39" name="Fase 2"/>
          <p:cNvGrpSpPr/>
          <p:nvPr/>
        </p:nvGrpSpPr>
        <p:grpSpPr>
          <a:xfrm>
            <a:off x="812800" y="5270500"/>
            <a:ext cx="14630400" cy="1737320"/>
            <a:chOff x="812800" y="5270500"/>
            <a:chExt cx="14630400" cy="1737320"/>
          </a:xfrm>
        </p:grpSpPr>
        <p:sp>
          <p:nvSpPr>
            <p:cNvPr id="40" name="Rectangle 39"/>
            <p:cNvSpPr/>
            <p:nvPr/>
          </p:nvSpPr>
          <p:spPr>
            <a:xfrm>
              <a:off x="812800" y="5270500"/>
              <a:ext cx="14630400" cy="173732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812800" y="5270500"/>
              <a:ext cx="14630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4864100" y="5829300"/>
              <a:ext cx="9067800" cy="25400"/>
            </a:xfrm>
            <a:prstGeom prst="rect">
              <a:avLst/>
            </a:prstGeom>
            <a:solidFill>
              <a:srgbClr val="AA9944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TextBox 42"/>
            <p:cNvSpPr txBox="1"/>
            <p:nvPr/>
          </p:nvSpPr>
          <p:spPr>
            <a:xfrm>
              <a:off x="1295400" y="5740400"/>
              <a:ext cx="1775817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AA9944"/>
                  </a:solidFill>
                  <a:latin typeface="Roboto"/>
                </a:rPr>
                <a:t>Vessant tècnica</a:t>
              </a:r>
            </a:p>
          </p:txBody>
        </p:sp>
        <p:pic>
          <p:nvPicPr>
            <p:cNvPr id="44" name="Picture 43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2800" y="5741591"/>
              <a:ext cx="330200" cy="264120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46990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Oval 45"/>
            <p:cNvSpPr/>
            <p:nvPr/>
          </p:nvSpPr>
          <p:spPr>
            <a:xfrm>
              <a:off x="47625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TextBox 46"/>
            <p:cNvSpPr txBox="1"/>
            <p:nvPr/>
          </p:nvSpPr>
          <p:spPr>
            <a:xfrm>
              <a:off x="34671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Migració d'expedients vius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4671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Alta prioritat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77216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Oval 49"/>
            <p:cNvSpPr/>
            <p:nvPr/>
          </p:nvSpPr>
          <p:spPr>
            <a:xfrm>
              <a:off x="77851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TextBox 50"/>
            <p:cNvSpPr txBox="1"/>
            <p:nvPr/>
          </p:nvSpPr>
          <p:spPr>
            <a:xfrm>
              <a:off x="64897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Activació dels serveis AOC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4897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Adaptació PICA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107442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Oval 53"/>
            <p:cNvSpPr/>
            <p:nvPr/>
          </p:nvSpPr>
          <p:spPr>
            <a:xfrm>
              <a:off x="108077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TextBox 54"/>
            <p:cNvSpPr txBox="1"/>
            <p:nvPr/>
          </p:nvSpPr>
          <p:spPr>
            <a:xfrm>
              <a:off x="95123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5123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Aranès · Nou frontweb · Millores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137668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Oval 57"/>
            <p:cNvSpPr/>
            <p:nvPr/>
          </p:nvSpPr>
          <p:spPr>
            <a:xfrm>
              <a:off x="138303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125349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25349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SARCAT · Cens DPD · Publicació</a:t>
              </a:r>
            </a:p>
          </p:txBody>
        </p:sp>
      </p:grpSp>
      <p:sp>
        <p:nvSpPr>
          <p:cNvPr id="61" name="TextBox 6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9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opcions</a:t>
            </a:r>
          </a:p>
        </p:txBody>
      </p:sp>
      <p:grpSp>
        <p:nvGrpSpPr>
          <p:cNvPr id="7" name="Fase 1"/>
          <p:cNvGrpSpPr/>
          <p:nvPr/>
        </p:nvGrpSpPr>
        <p:grpSpPr>
          <a:xfrm>
            <a:off x="1397000" y="1829395"/>
            <a:ext cx="6502400" cy="6005116"/>
            <a:chOff x="1397000" y="1829395"/>
            <a:chExt cx="6502400" cy="6005116"/>
          </a:xfrm>
        </p:grpSpPr>
        <p:sp>
          <p:nvSpPr>
            <p:cNvPr id="8" name="Rounded Rectangle 7"/>
            <p:cNvSpPr/>
            <p:nvPr/>
          </p:nvSpPr>
          <p:spPr>
            <a:xfrm>
              <a:off x="1397000" y="1829395"/>
              <a:ext cx="6502400" cy="6005116"/>
            </a:xfrm>
            <a:prstGeom prst="roundRect">
              <a:avLst>
                <a:gd name="adj" fmla="val 2960"/>
              </a:avLst>
            </a:prstGeom>
            <a:solidFill>
              <a:srgbClr val="7FB927"/>
            </a:solidFill>
            <a:effectLst/>
            <a:ln>
              <a:noFill/>
            </a:ln>
            <a:effectLst>
              <a:outerShdw blurRad="203200" dist="25400" dir="5400000" algn="ctr" rotWithShape="0">
                <a:srgbClr val="003040">
                  <a:alpha val="6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Rounded Rectangle 8"/>
            <p:cNvSpPr/>
            <p:nvPr/>
          </p:nvSpPr>
          <p:spPr>
            <a:xfrm>
              <a:off x="1397000" y="1880195"/>
              <a:ext cx="6502400" cy="5954316"/>
            </a:xfrm>
            <a:prstGeom prst="roundRect">
              <a:avLst>
                <a:gd name="adj" fmla="val 2986"/>
              </a:avLst>
            </a:prstGeom>
            <a:solidFill>
              <a:srgbClr val="ECF0F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TextBox 9"/>
            <p:cNvSpPr txBox="1"/>
            <p:nvPr/>
          </p:nvSpPr>
          <p:spPr>
            <a:xfrm>
              <a:off x="1905000" y="2388195"/>
              <a:ext cx="5562600" cy="355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2400" b="1" i="0">
                  <a:solidFill>
                    <a:srgbClr val="003040"/>
                  </a:solidFill>
                  <a:latin typeface="Roboto"/>
                </a:rPr>
                <a:t>Gestiona + Anexa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05000" y="2870795"/>
              <a:ext cx="5511800" cy="828675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ct val="150000"/>
                </a:lnSpc>
              </a:pPr>
              <a:r>
                <a:rPr sz="1500" b="0" i="0">
                  <a:solidFill>
                    <a:srgbClr val="3D5C66"/>
                  </a:solidFill>
                  <a:latin typeface="Roboto"/>
                </a:rPr>
                <a:t>Traslladem la tramitació administrativa a Gestiona i mantenim algunes funcionalitats del projecte Factory a Anexa.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905000" y="4004270"/>
              <a:ext cx="5562600" cy="731441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00000"/>
                </a:lnSpc>
              </a:pPr>
              <a:r>
                <a:rPr sz="5760" b="1" i="0">
                  <a:solidFill>
                    <a:srgbClr val="7FB927"/>
                  </a:solidFill>
                  <a:latin typeface="Roboto"/>
                </a:rPr>
                <a:t>1T 2027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905000" y="4811911"/>
              <a:ext cx="556260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520" b="0" i="0">
                  <a:solidFill>
                    <a:srgbClr val="3D5C66"/>
                  </a:solidFill>
                  <a:latin typeface="Roboto"/>
                </a:rPr>
                <a:t>Arrencada · 28 de febrer de 2027*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05000" y="53961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1905000" y="53961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6" name="TextBox 15"/>
            <p:cNvSpPr txBox="1"/>
            <p:nvPr/>
          </p:nvSpPr>
          <p:spPr>
            <a:xfrm>
              <a:off x="1905000" y="5535811"/>
              <a:ext cx="143708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Inici del projecte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82097" y="5535811"/>
              <a:ext cx="1409303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Novembre 2026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05000" y="58914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9" name="Rectangle 18"/>
            <p:cNvSpPr/>
            <p:nvPr/>
          </p:nvSpPr>
          <p:spPr>
            <a:xfrm>
              <a:off x="1905000" y="58914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TextBox 19"/>
            <p:cNvSpPr txBox="1"/>
            <p:nvPr/>
          </p:nvSpPr>
          <p:spPr>
            <a:xfrm>
              <a:off x="1905000" y="6031111"/>
              <a:ext cx="265489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Migració d'expedients i registre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581055" y="6031111"/>
              <a:ext cx="181034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28 de febrer de 2027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905000" y="63867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" name="Rectangle 22"/>
            <p:cNvSpPr/>
            <p:nvPr/>
          </p:nvSpPr>
          <p:spPr>
            <a:xfrm>
              <a:off x="1905000" y="63867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TextBox 23"/>
            <p:cNvSpPr txBox="1"/>
            <p:nvPr/>
          </p:nvSpPr>
          <p:spPr>
            <a:xfrm>
              <a:off x="1905000" y="6526411"/>
              <a:ext cx="186769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581055" y="6526411"/>
              <a:ext cx="181034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28 de febrer de 2027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905000" y="68820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Rectangle 26"/>
            <p:cNvSpPr/>
            <p:nvPr/>
          </p:nvSpPr>
          <p:spPr>
            <a:xfrm>
              <a:off x="1905000" y="68820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TextBox 27"/>
            <p:cNvSpPr txBox="1"/>
            <p:nvPr/>
          </p:nvSpPr>
          <p:spPr>
            <a:xfrm>
              <a:off x="1905000" y="7021711"/>
              <a:ext cx="22173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41541" y="7021711"/>
              <a:ext cx="2049859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– setembre 2027</a:t>
              </a:r>
            </a:p>
          </p:txBody>
        </p:sp>
      </p:grpSp>
      <p:grpSp>
        <p:nvGrpSpPr>
          <p:cNvPr id="30" name="Fase 2"/>
          <p:cNvGrpSpPr/>
          <p:nvPr/>
        </p:nvGrpSpPr>
        <p:grpSpPr>
          <a:xfrm>
            <a:off x="8356600" y="1829395"/>
            <a:ext cx="6502400" cy="6005116"/>
            <a:chOff x="8356600" y="1829395"/>
            <a:chExt cx="6502400" cy="6005116"/>
          </a:xfrm>
        </p:grpSpPr>
        <p:sp>
          <p:nvSpPr>
            <p:cNvPr id="31" name="Rounded Rectangle 30"/>
            <p:cNvSpPr/>
            <p:nvPr/>
          </p:nvSpPr>
          <p:spPr>
            <a:xfrm>
              <a:off x="8356600" y="1829395"/>
              <a:ext cx="6502400" cy="6005116"/>
            </a:xfrm>
            <a:prstGeom prst="roundRect">
              <a:avLst>
                <a:gd name="adj" fmla="val 2960"/>
              </a:avLst>
            </a:prstGeom>
            <a:solidFill>
              <a:srgbClr val="7FB927"/>
            </a:solidFill>
            <a:effectLst/>
            <a:ln>
              <a:noFill/>
            </a:ln>
            <a:effectLst>
              <a:outerShdw blurRad="203200" dist="25400" dir="5400000" algn="ctr" rotWithShape="0">
                <a:srgbClr val="003040">
                  <a:alpha val="6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Rounded Rectangle 31"/>
            <p:cNvSpPr/>
            <p:nvPr/>
          </p:nvSpPr>
          <p:spPr>
            <a:xfrm>
              <a:off x="8356600" y="1880195"/>
              <a:ext cx="6502400" cy="5954316"/>
            </a:xfrm>
            <a:prstGeom prst="roundRect">
              <a:avLst>
                <a:gd name="adj" fmla="val 2986"/>
              </a:avLst>
            </a:prstGeom>
            <a:solidFill>
              <a:srgbClr val="ECF0F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TextBox 32"/>
            <p:cNvSpPr txBox="1"/>
            <p:nvPr/>
          </p:nvSpPr>
          <p:spPr>
            <a:xfrm>
              <a:off x="8864600" y="2388195"/>
              <a:ext cx="5562600" cy="355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2400" b="1" i="0">
                  <a:solidFill>
                    <a:srgbClr val="003040"/>
                  </a:solidFill>
                  <a:latin typeface="Roboto"/>
                </a:rPr>
                <a:t>Gestiona integrat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864600" y="2870795"/>
              <a:ext cx="5511800" cy="828675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ct val="150000"/>
                </a:lnSpc>
              </a:pPr>
              <a:r>
                <a:rPr sz="1500" b="0" i="0">
                  <a:solidFill>
                    <a:srgbClr val="3D5C66"/>
                  </a:solidFill>
                  <a:latin typeface="Roboto"/>
                </a:rPr>
                <a:t>Condicionem la data d'arrencada al desenvolupament d'un projecte de Gestiona integrat.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64600" y="4004270"/>
              <a:ext cx="5562600" cy="731441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00000"/>
                </a:lnSpc>
              </a:pPr>
              <a:r>
                <a:rPr sz="5760" b="1" i="0">
                  <a:solidFill>
                    <a:srgbClr val="7FB927"/>
                  </a:solidFill>
                  <a:latin typeface="Roboto"/>
                </a:rPr>
                <a:t>3T 2027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864600" y="4811911"/>
              <a:ext cx="556260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520" b="0" i="0">
                  <a:solidFill>
                    <a:srgbClr val="3D5C66"/>
                  </a:solidFill>
                  <a:latin typeface="Roboto"/>
                </a:rPr>
                <a:t>Arrencada · 17 de setembre de 2027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864600" y="53961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8" name="Rectangle 37"/>
            <p:cNvSpPr/>
            <p:nvPr/>
          </p:nvSpPr>
          <p:spPr>
            <a:xfrm>
              <a:off x="8864600" y="53961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9" name="TextBox 38"/>
            <p:cNvSpPr txBox="1"/>
            <p:nvPr/>
          </p:nvSpPr>
          <p:spPr>
            <a:xfrm>
              <a:off x="8864600" y="5535811"/>
              <a:ext cx="143708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Inici del projecte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305433" y="5535811"/>
              <a:ext cx="1045567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2027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864600" y="58914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8864600" y="58914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TextBox 42"/>
            <p:cNvSpPr txBox="1"/>
            <p:nvPr/>
          </p:nvSpPr>
          <p:spPr>
            <a:xfrm>
              <a:off x="8864600" y="6031111"/>
              <a:ext cx="18871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Migració d'expedients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249150" y="6031111"/>
              <a:ext cx="210185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17 de setembre de 2027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864600" y="63867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Rectangle 45"/>
            <p:cNvSpPr/>
            <p:nvPr/>
          </p:nvSpPr>
          <p:spPr>
            <a:xfrm>
              <a:off x="8864600" y="63867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TextBox 46"/>
            <p:cNvSpPr txBox="1"/>
            <p:nvPr/>
          </p:nvSpPr>
          <p:spPr>
            <a:xfrm>
              <a:off x="8864600" y="6526411"/>
              <a:ext cx="186769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2249150" y="6526411"/>
              <a:ext cx="210185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17 de setembre de 2027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864600" y="68820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Rectangle 49"/>
            <p:cNvSpPr/>
            <p:nvPr/>
          </p:nvSpPr>
          <p:spPr>
            <a:xfrm>
              <a:off x="8864600" y="68820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TextBox 50"/>
            <p:cNvSpPr txBox="1"/>
            <p:nvPr/>
          </p:nvSpPr>
          <p:spPr>
            <a:xfrm>
              <a:off x="8864600" y="7021711"/>
              <a:ext cx="22173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301141" y="7021711"/>
              <a:ext cx="2049859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– setembre 2027</a:t>
              </a:r>
            </a:p>
          </p:txBody>
        </p:sp>
      </p:grpSp>
      <p:grpSp>
        <p:nvGrpSpPr>
          <p:cNvPr id="53" name="Fase 1"/>
          <p:cNvGrpSpPr/>
          <p:nvPr/>
        </p:nvGrpSpPr>
        <p:grpSpPr>
          <a:xfrm>
            <a:off x="1397000" y="8037711"/>
            <a:ext cx="13538200" cy="267494"/>
            <a:chOff x="1397000" y="8037711"/>
            <a:chExt cx="13538200" cy="267494"/>
          </a:xfrm>
        </p:grpSpPr>
        <p:sp>
          <p:nvSpPr>
            <p:cNvPr id="54" name="TextBox 53"/>
            <p:cNvSpPr txBox="1"/>
            <p:nvPr/>
          </p:nvSpPr>
          <p:spPr>
            <a:xfrm>
              <a:off x="1397000" y="8037711"/>
              <a:ext cx="13538200" cy="26749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54999"/>
                </a:lnSpc>
              </a:pPr>
              <a:r>
                <a:rPr sz="1360" b="0" i="0">
                  <a:solidFill>
                    <a:srgbClr val="3D5C66"/>
                  </a:solidFill>
                  <a:latin typeface="Roboto"/>
                </a:rPr>
                <a:t>* Data condicionada al desplegament dels evolutius de producte.</a:t>
              </a: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3" grpId="0"/>
      <p:bldP spid="30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+ Anexa · Arrencada el 28 de febrer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03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8503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224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7224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594402" y="2260600"/>
            <a:ext cx="1744266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5944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3386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3386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6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6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0827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0827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19548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9548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28268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28268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6989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36989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45710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45710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54303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40300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NOV.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22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DES.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43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6302" y="2349500"/>
            <a:ext cx="1820466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FEBRER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005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25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46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167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7887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608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5329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7" name="Rounded Rectangle 46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47867" y="3390900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51" name="Rounded Rectangle 50"/>
          <p:cNvSpPr/>
          <p:nvPr/>
        </p:nvSpPr>
        <p:spPr>
          <a:xfrm rot="2700000">
            <a:off x="9038034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28100" y="4104481"/>
            <a:ext cx="12573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64067" y="4475361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64067" y="48182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8134" y="5161161"/>
            <a:ext cx="25654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 i registre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03800" y="58215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1644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75734" y="6507361"/>
            <a:ext cx="1693466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 rot="2700000">
            <a:off x="9038034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47867" y="6879431"/>
            <a:ext cx="8669734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64067" y="7251502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7" name="Rounded Rectangle 76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integrat · Arrencada el 17 de setembre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247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247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0713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0713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768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176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16424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16424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8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2571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2571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3037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3037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3350081" y="2260600"/>
            <a:ext cx="2093119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3500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54305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403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66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FEBR.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32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958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614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27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190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656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11981" y="2349500"/>
            <a:ext cx="216931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SETEMBRE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1" name="Rounded Rectangle 40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29120" y="3390900"/>
            <a:ext cx="9955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45" name="Rounded Rectangle 44"/>
          <p:cNvSpPr/>
          <p:nvPr/>
        </p:nvSpPr>
        <p:spPr>
          <a:xfrm rot="2700000">
            <a:off x="14575631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422041" y="410448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422041" y="447536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3800" y="4818261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14945320" y="4818261"/>
            <a:ext cx="47248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43081" y="5161161"/>
            <a:ext cx="413523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282561" y="5821561"/>
            <a:ext cx="3611959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03800" y="6164461"/>
            <a:ext cx="98907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282561" y="6507361"/>
            <a:ext cx="20421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 rot="2700000">
            <a:off x="14575631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879431"/>
            <a:ext cx="1041400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03800" y="7251502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2" name="Rounded Rectangle 71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37036" y="3930650"/>
            <a:ext cx="10981928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T'acompanyem fins on vulguis arribar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50609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