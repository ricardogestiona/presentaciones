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44427" y="2442865"/>
            <a:ext cx="8502997" cy="61719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07999"/>
              </a:lnSpc>
            </a:pPr>
            <a:r>
              <a:rPr sz="4500" b="1" i="0">
                <a:solidFill>
                  <a:srgbClr val="003040"/>
                </a:solidFill>
                <a:latin typeface="Roboto"/>
              </a:rPr>
              <a:t>Impulsem la </a:t>
            </a:r>
            <a:r>
              <a:rPr sz="4500" b="1" i="0">
                <a:solidFill>
                  <a:srgbClr val="7FB927"/>
                </a:solidFill>
                <a:latin typeface="Roboto"/>
              </a:rPr>
              <a:t>transformació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32993" y="3231505"/>
            <a:ext cx="5726013" cy="3143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650" b="0" i="0">
                <a:solidFill>
                  <a:srgbClr val="5A7A84"/>
                </a:solidFill>
                <a:latin typeface="Roboto"/>
              </a:rPr>
              <a:t>Solucions digitals innovadores per a entitats transformadores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390778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6884" y="4098280"/>
            <a:ext cx="3958084" cy="221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5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Autoritat Catalana de Protecció de Dades · 28 de juliol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El grup en xifres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483793"/>
            <a:ext cx="3505200" cy="1202382"/>
          </a:xfrm>
          <a:prstGeom prst="roundRect">
            <a:avLst>
              <a:gd name="adj" fmla="val 1109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83793"/>
            <a:ext cx="35052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6300" y="2788593"/>
            <a:ext cx="2971800" cy="4022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0000"/>
              </a:lnSpc>
            </a:pPr>
            <a:r>
              <a:rPr sz="2879" b="1" i="0">
                <a:solidFill>
                  <a:srgbClr val="7FB927"/>
                </a:solidFill>
                <a:latin typeface="Roboto"/>
              </a:rPr>
              <a:t>+8.000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248025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39" b="0" i="0">
                <a:solidFill>
                  <a:srgbClr val="3D5C66"/>
                </a:solidFill>
                <a:latin typeface="Roboto"/>
              </a:rPr>
              <a:t>Administracions clients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483793"/>
            <a:ext cx="3505200" cy="1202382"/>
          </a:xfrm>
          <a:prstGeom prst="roundRect">
            <a:avLst>
              <a:gd name="adj" fmla="val 1109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2483793"/>
            <a:ext cx="35052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0100" y="2788593"/>
            <a:ext cx="2971800" cy="4022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0000"/>
              </a:lnSpc>
            </a:pPr>
            <a:r>
              <a:rPr sz="2879" b="1" i="0">
                <a:solidFill>
                  <a:srgbClr val="7FB927"/>
                </a:solidFill>
                <a:latin typeface="Roboto"/>
              </a:rPr>
              <a:t>650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248025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39" b="0" i="0">
                <a:solidFill>
                  <a:srgbClr val="3D5C66"/>
                </a:solidFill>
                <a:latin typeface="Roboto"/>
              </a:rPr>
              <a:t>Persones a l'equip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7200" y="2483793"/>
            <a:ext cx="3505200" cy="1202382"/>
          </a:xfrm>
          <a:prstGeom prst="roundRect">
            <a:avLst>
              <a:gd name="adj" fmla="val 1109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7200" y="2483793"/>
            <a:ext cx="35052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3900" y="2788593"/>
            <a:ext cx="2971800" cy="4022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0000"/>
              </a:lnSpc>
            </a:pPr>
            <a:r>
              <a:rPr sz="2879" b="1" i="0">
                <a:solidFill>
                  <a:srgbClr val="7FB927"/>
                </a:solidFill>
                <a:latin typeface="Roboto"/>
              </a:rPr>
              <a:t>220K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248025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39" b="0" i="0">
                <a:solidFill>
                  <a:srgbClr val="3D5C66"/>
                </a:solidFill>
                <a:latin typeface="Roboto"/>
              </a:rPr>
              <a:t>Usuaris de Gestiona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" y="3914775"/>
            <a:ext cx="3505200" cy="1202382"/>
          </a:xfrm>
          <a:prstGeom prst="roundRect">
            <a:avLst>
              <a:gd name="adj" fmla="val 1109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914775"/>
            <a:ext cx="35052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6300" y="4219575"/>
            <a:ext cx="2971800" cy="4022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0000"/>
              </a:lnSpc>
            </a:pPr>
            <a:r>
              <a:rPr sz="2879" b="1" i="0">
                <a:solidFill>
                  <a:srgbClr val="7FB927"/>
                </a:solidFill>
                <a:latin typeface="Roboto"/>
              </a:rPr>
              <a:t>&gt;85M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679007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39" b="0" i="0">
                <a:solidFill>
                  <a:srgbClr val="3D5C66"/>
                </a:solidFill>
                <a:latin typeface="Roboto"/>
              </a:rPr>
              <a:t>Signatures electròniques a l'any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14775"/>
            <a:ext cx="3505200" cy="1202382"/>
          </a:xfrm>
          <a:prstGeom prst="roundRect">
            <a:avLst>
              <a:gd name="adj" fmla="val 1109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3914775"/>
            <a:ext cx="35052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0100" y="4219575"/>
            <a:ext cx="2971800" cy="4022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0000"/>
              </a:lnSpc>
            </a:pPr>
            <a:r>
              <a:rPr sz="2879" b="1" i="0">
                <a:solidFill>
                  <a:srgbClr val="7FB927"/>
                </a:solidFill>
                <a:latin typeface="Roboto"/>
              </a:rPr>
              <a:t>6 PB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0100" y="4679007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39" b="0" i="0">
                <a:solidFill>
                  <a:srgbClr val="3D5C66"/>
                </a:solidFill>
                <a:latin typeface="Roboto"/>
              </a:rPr>
              <a:t>Allotjament i custòdia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77200" y="3914775"/>
            <a:ext cx="3505200" cy="1202382"/>
          </a:xfrm>
          <a:prstGeom prst="roundRect">
            <a:avLst>
              <a:gd name="adj" fmla="val 1109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77200" y="3914775"/>
            <a:ext cx="35052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3900" y="4219575"/>
            <a:ext cx="2971800" cy="40228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10000"/>
              </a:lnSpc>
            </a:pPr>
            <a:r>
              <a:rPr sz="2879" b="1" i="0">
                <a:solidFill>
                  <a:srgbClr val="7FB927"/>
                </a:solidFill>
                <a:latin typeface="Roboto"/>
              </a:rPr>
              <a:t>+900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3900" y="4679007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39" b="0" i="0">
                <a:solidFill>
                  <a:srgbClr val="3D5C66"/>
                </a:solidFill>
                <a:latin typeface="Roboto"/>
              </a:rPr>
              <a:t>Integracions desplegades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Un catàleg complet de mòduls i funcionalitats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5336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5336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95662" y="25336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95662" y="25336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81725" y="25336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81725" y="25336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7788" y="25336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7788" y="25336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09600" y="30670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600" y="30670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95662" y="30670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95662" y="30670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81725" y="30670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725" y="30670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7788" y="30670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7788" y="30670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09600" y="36004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36004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95662" y="36004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95662" y="36004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81725" y="36004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81725" y="36004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967788" y="36004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967788" y="36004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09600" y="41338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41338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395662" y="41338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95662" y="41338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81725" y="41338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81725" y="41338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967788" y="41338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7788" y="41338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9600" y="46672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9600" y="46672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395662" y="46672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95662" y="46672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181725" y="4667250"/>
            <a:ext cx="2614612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181725" y="4667250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43650" y="4781550"/>
            <a:ext cx="103882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104" b="1" i="0">
                <a:solidFill>
                  <a:srgbClr val="7FB927"/>
                </a:solidFill>
                <a:latin typeface="Roboto"/>
              </a:rPr>
              <a:t>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19176" y="2419350"/>
            <a:ext cx="7753499" cy="628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4200" b="1" i="0">
                <a:solidFill>
                  <a:srgbClr val="FFFFFF"/>
                </a:solidFill>
                <a:latin typeface="Roboto"/>
              </a:rPr>
              <a:t>Seguretat i compliment normatiu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43500" y="3543300"/>
            <a:ext cx="1905000" cy="381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28058" y="4057650"/>
            <a:ext cx="3735884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Roboto"/>
              </a:rPr>
              <a:t>Els pilars de la confiança en les integracions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Seguretat i protecció de dades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2373809"/>
            <a:ext cx="2266950" cy="2853184"/>
          </a:xfrm>
          <a:prstGeom prst="roundRect">
            <a:avLst>
              <a:gd name="adj" fmla="val 5882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2373809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38325" y="2640509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8250" y="3516809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RGPD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3802559"/>
            <a:ext cx="1885950" cy="80426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Actuem com a encarregat del tractament, amb les garanties i els compromisos contractuals que això comporta.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373809"/>
            <a:ext cx="2266950" cy="2853184"/>
          </a:xfrm>
          <a:prstGeom prst="roundRect">
            <a:avLst>
              <a:gd name="adj" fmla="val 5882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373809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48175" y="2640509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8100" y="3516809"/>
            <a:ext cx="188595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Compliment i certificacions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100" y="3993059"/>
            <a:ext cx="1885950" cy="10053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Certificats en conformitat amb l'ENS, categoria Alta. Seguim els esquemes ENI i les bones pràctiques ITIL, que defineixen els nostres protocols.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7450" y="2373809"/>
            <a:ext cx="2266950" cy="2853184"/>
          </a:xfrm>
          <a:prstGeom prst="roundRect">
            <a:avLst>
              <a:gd name="adj" fmla="val 5882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7450" y="2373809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58025" y="2640509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7950" y="3516809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Serveis de confiança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802559"/>
            <a:ext cx="1885950" cy="10053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Prestador de Serveis de Confiança Qualificats segons el Reglament UE 910/2014 (eIDAS) i la llei de signatura electrònica.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7300" y="2373809"/>
            <a:ext cx="2266950" cy="2853184"/>
          </a:xfrm>
          <a:prstGeom prst="roundRect">
            <a:avLst>
              <a:gd name="adj" fmla="val 5882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77300" y="2373809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67875" y="2640509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7800" y="3516809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Traçabilitat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800" y="3802559"/>
            <a:ext cx="1885950" cy="80426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Tota acció feta a través de l'API queda registrada i certificada, amb les mateixes garanties que les fetes per un usuari.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060650" y="2671762"/>
            <a:ext cx="6070550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3900" b="1" i="0">
                <a:solidFill>
                  <a:srgbClr val="FFFFFF"/>
                </a:solidFill>
                <a:latin typeface="Roboto"/>
              </a:rPr>
              <a:t>Com evoluciona el producte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3519488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55615" y="3805238"/>
            <a:ext cx="5680621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Roboto"/>
              </a:rPr>
              <a:t>La nostra filosofia d'evolució: un sol producte, sempre en moviment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Roadmap: incrementar les capacitats de la plataforma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2469059"/>
            <a:ext cx="2266950" cy="2662684"/>
          </a:xfrm>
          <a:prstGeom prst="roundRect">
            <a:avLst>
              <a:gd name="adj" fmla="val 5882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2469059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38325" y="2735759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8250" y="3612059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Un sol producte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3897809"/>
            <a:ext cx="1885950" cy="10053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Totes les entitats treballen sobre la mateixa versió en SaaS. Cap desenvolupament a mida que faci divergir el producte.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469059"/>
            <a:ext cx="2266950" cy="2662684"/>
          </a:xfrm>
          <a:prstGeom prst="roundRect">
            <a:avLst>
              <a:gd name="adj" fmla="val 5882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469059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48175" y="2735759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8100" y="3612059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Compatibilitat garantida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100" y="3897809"/>
            <a:ext cx="1885950" cy="10053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L'API evoluciona amb control de compatibilitat i gestió de canvis comunicada a totes les parts interessades. Les integracions no es trenquen.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7450" y="2469059"/>
            <a:ext cx="2266950" cy="2662684"/>
          </a:xfrm>
          <a:prstGeom prst="roundRect">
            <a:avLst>
              <a:gd name="adj" fmla="val 5882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7450" y="2469059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58025" y="2735759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7950" y="3612059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Evolució guiada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897809"/>
            <a:ext cx="1885950" cy="80426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Prioritzem segons la normativa vigent i les necessitats reals d'una comunitat de més de 8.000 administracions.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7300" y="2469059"/>
            <a:ext cx="2266950" cy="2662684"/>
          </a:xfrm>
          <a:prstGeom prst="roundRect">
            <a:avLst>
              <a:gd name="adj" fmla="val 5882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77300" y="2469059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67875" y="2735759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7800" y="3612059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Autonomia de l'entitat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800" y="3897809"/>
            <a:ext cx="1885950" cy="100533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No deixem implantada cap funcionalitat que l'entitat no pugui mantenir de manera autònoma, sense dependre de nosaltres.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52479" y="2671762"/>
            <a:ext cx="3487043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3900" b="1" i="0">
                <a:solidFill>
                  <a:srgbClr val="FFFFFF"/>
                </a:solidFill>
                <a:latin typeface="Roboto"/>
              </a:rPr>
              <a:t>Interoperabilitat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3519488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35796" y="3805238"/>
            <a:ext cx="6120408" cy="2857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500" b="0" i="0">
                <a:solidFill>
                  <a:srgbClr val="FFFFFF"/>
                </a:solidFill>
                <a:latin typeface="Roboto"/>
              </a:rPr>
              <a:t>Connectats de manera nativa amb els serveis comuns de l'Administració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La nostra API REST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2127796"/>
            <a:ext cx="2266950" cy="2260550"/>
          </a:xfrm>
          <a:prstGeom prst="roundRect">
            <a:avLst>
              <a:gd name="adj" fmla="val 5899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2127796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38325" y="2394496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8250" y="3270796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Potent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3556546"/>
            <a:ext cx="1885950" cy="6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219 recursos agrupats en 46 espais, amb creixement continu de nous serveis.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0" y="2127796"/>
            <a:ext cx="2266950" cy="2260550"/>
          </a:xfrm>
          <a:prstGeom prst="roundRect">
            <a:avLst>
              <a:gd name="adj" fmla="val 5899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127796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48175" y="2394496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8100" y="3270796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Documentada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100" y="3556546"/>
            <a:ext cx="1885950" cy="6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Interfície publicada amb exemples de cada cas d'ús i codi d'exemple a GitHub.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7450" y="2127796"/>
            <a:ext cx="2266950" cy="2260550"/>
          </a:xfrm>
          <a:prstGeom prst="roundRect">
            <a:avLst>
              <a:gd name="adj" fmla="val 5899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7450" y="2127796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58025" y="2394496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7950" y="3270796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Gratuïta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556546"/>
            <a:ext cx="1885950" cy="6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Sense cost addicional per l'ús de l'API ni per les integracions que hi desenvolupis.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7300" y="2127796"/>
            <a:ext cx="2266950" cy="2260550"/>
          </a:xfrm>
          <a:prstGeom prst="roundRect">
            <a:avLst>
              <a:gd name="adj" fmla="val 5899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77300" y="2127796"/>
            <a:ext cx="22669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67875" y="2394496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7800" y="3270796"/>
            <a:ext cx="18859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Amb suport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7800" y="3556546"/>
            <a:ext cx="1885950" cy="603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056" b="0" i="0">
                <a:solidFill>
                  <a:srgbClr val="3D5C66"/>
                </a:solidFill>
                <a:latin typeface="Roboto"/>
              </a:rPr>
              <a:t>Servei de suport a desenvolupadors per acompanyar cada integració.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70099" y="4655046"/>
            <a:ext cx="9651802" cy="818108"/>
          </a:xfrm>
          <a:prstGeom prst="rect">
            <a:avLst/>
          </a:prstGeom>
          <a:solidFill>
            <a:srgbClr val="7FB92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70099" y="4655046"/>
            <a:ext cx="38100" cy="818108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74899" y="4883646"/>
            <a:ext cx="9080302" cy="26565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54999"/>
              </a:lnSpc>
            </a:pPr>
            <a:r>
              <a:rPr sz="1350" b="1" i="0">
                <a:solidFill>
                  <a:srgbClr val="1A3A44"/>
                </a:solidFill>
                <a:latin typeface="Roboto"/>
              </a:rPr>
              <a:t>Desacoblada de l'aplicació web:</a:t>
            </a:r>
            <a:r>
              <a:rPr sz="1350" b="0" i="0">
                <a:solidFill>
                  <a:srgbClr val="3D5C66"/>
                </a:solidFill>
                <a:latin typeface="Roboto"/>
              </a:rPr>
              <a:t> en cas d'atac o col·lapse de l'API, els usuaris finals de Gestiona no en resulten afectats.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Tres vies d'integració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2371725"/>
            <a:ext cx="3136850" cy="2857500"/>
          </a:xfrm>
          <a:prstGeom prst="roundRect">
            <a:avLst>
              <a:gd name="adj" fmla="val 4666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2371725"/>
            <a:ext cx="31368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73201" y="27908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3667125"/>
            <a:ext cx="2527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Integracions de producte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50" y="3990975"/>
            <a:ext cx="2527250" cy="6429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Connectors natius del catàleg, ja disponibles i llestos per activar sense desenvolupament addicional.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7500" y="2371725"/>
            <a:ext cx="3136999" cy="2857500"/>
          </a:xfrm>
          <a:prstGeom prst="roundRect">
            <a:avLst>
              <a:gd name="adj" fmla="val 4666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7500" y="2371725"/>
            <a:ext cx="3136999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53100" y="27908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2300" y="3667125"/>
            <a:ext cx="2527399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Integracions 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2300" y="3990975"/>
            <a:ext cx="2527399" cy="8572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El nostre equip de Gestiona Factory construeix la integració a mida, amb el mateix estàndard i qualitat del producte.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7400" y="2371725"/>
            <a:ext cx="3136850" cy="2857500"/>
          </a:xfrm>
          <a:prstGeom prst="roundRect">
            <a:avLst>
              <a:gd name="adj" fmla="val 4666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7400" y="2371725"/>
            <a:ext cx="31368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2850" y="27908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2200" y="3667125"/>
            <a:ext cx="2527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Integracions developers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200" y="3990975"/>
            <a:ext cx="2527250" cy="6429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L'entitat, amb equip tècnic propi, desenvolupa la integració fent servir la nostra API oberta i documentada.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Integracions de producte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9600" y="24401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4401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24350" y="24401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4350" y="24401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039100" y="24401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39100" y="24401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9600" y="29735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29735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24350" y="29735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24350" y="29735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39100" y="29735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39100" y="29735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9600" y="35069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" y="35069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24350" y="35069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4350" y="35069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39100" y="3506986"/>
            <a:ext cx="3543300" cy="400050"/>
          </a:xfrm>
          <a:prstGeom prst="roundRect">
            <a:avLst>
              <a:gd name="adj" fmla="val 1904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9100" y="3506986"/>
            <a:ext cx="28575" cy="40005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" y="4173736"/>
            <a:ext cx="10972800" cy="987028"/>
          </a:xfrm>
          <a:prstGeom prst="rect">
            <a:avLst/>
          </a:prstGeom>
          <a:solidFill>
            <a:srgbClr val="7FB92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9600" y="4173736"/>
            <a:ext cx="38100" cy="987028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402336"/>
            <a:ext cx="10401300" cy="43457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54999"/>
              </a:lnSpc>
            </a:pPr>
            <a:r>
              <a:rPr sz="1104" b="1" i="0">
                <a:solidFill>
                  <a:srgbClr val="1A3A44"/>
                </a:solidFill>
                <a:latin typeface="Roboto"/>
              </a:rPr>
              <a:t>Punt de Presència (PdP) de la Xarxa SARA:</a:t>
            </a:r>
            <a:r>
              <a:rPr sz="1104" b="0" i="0">
                <a:solidFill>
                  <a:srgbClr val="3D5C66"/>
                </a:solidFill>
                <a:latin typeface="Roboto"/>
              </a:rPr>
              <a:t> a través nostre, les administracions catalanes i de la resta de l'Estat accedeixen als serveis comuns de l'Administració General de l'Estat i de la Generalitat de Catalunya, a través del Consorci AOC.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Característiques integracions de producte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2471738"/>
            <a:ext cx="3136850" cy="2657475"/>
          </a:xfrm>
          <a:prstGeom prst="roundRect">
            <a:avLst>
              <a:gd name="adj" fmla="val 501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2471738"/>
            <a:ext cx="31368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73201" y="289083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3767138"/>
            <a:ext cx="2527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as a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50" y="4090988"/>
            <a:ext cx="2527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Servei allotjat i gestionat per esPublico, amb SLA garantit.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7500" y="2471738"/>
            <a:ext cx="3136999" cy="2657475"/>
          </a:xfrm>
          <a:prstGeom prst="roundRect">
            <a:avLst>
              <a:gd name="adj" fmla="val 501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7500" y="2471738"/>
            <a:ext cx="3136999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53100" y="289083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2300" y="3767138"/>
            <a:ext cx="252739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Implementada en la funcionalitat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2300" y="4319588"/>
            <a:ext cx="2527399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Integrada directament en els fluxos de negoci de Gestiona.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7400" y="2471738"/>
            <a:ext cx="3136850" cy="2657475"/>
          </a:xfrm>
          <a:prstGeom prst="roundRect">
            <a:avLst>
              <a:gd name="adj" fmla="val 501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7400" y="2471738"/>
            <a:ext cx="31368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2850" y="289083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2200" y="3767138"/>
            <a:ext cx="2527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Inclosa en Roadmap producte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200" y="4319588"/>
            <a:ext cx="2527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Futura incorporació en la evolució del producte.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Integracions Factory i 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208734"/>
            <a:ext cx="20725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2014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60165" y="3532584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3856434"/>
            <a:ext cx="2072580" cy="180975"/>
          </a:xfrm>
          <a:prstGeom prst="rect">
            <a:avLst/>
          </a:prstGeom>
          <a:noFill/>
          <a:ln>
            <a:noFill/>
          </a:ln>
        </p:spPr>
        <p:txBody>
          <a:bodyPr wrap="square" lIns="45719" rIns="45719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35000"/>
              </a:lnSpc>
            </a:pPr>
            <a:r>
              <a:rPr sz="1056" b="0" i="0">
                <a:solidFill>
                  <a:srgbClr val="1A3A44"/>
                </a:solidFill>
                <a:latin typeface="Roboto"/>
              </a:rPr>
              <a:t>API oberta i gratuïta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580" y="3208734"/>
            <a:ext cx="20725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2016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85146" y="3532584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580" y="3856434"/>
            <a:ext cx="2072580" cy="180975"/>
          </a:xfrm>
          <a:prstGeom prst="rect">
            <a:avLst/>
          </a:prstGeom>
          <a:noFill/>
          <a:ln>
            <a:noFill/>
          </a:ln>
        </p:spPr>
        <p:txBody>
          <a:bodyPr wrap="square" lIns="45719" rIns="45719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35000"/>
              </a:lnSpc>
            </a:pPr>
            <a:r>
              <a:rPr sz="1056" b="0" i="0">
                <a:solidFill>
                  <a:srgbClr val="1A3A44"/>
                </a:solidFill>
                <a:latin typeface="Roboto"/>
              </a:rPr>
              <a:t>Suport API com a servei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59561" y="3208734"/>
            <a:ext cx="2072729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2019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10126" y="3532584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9561" y="3856434"/>
            <a:ext cx="2072729" cy="180975"/>
          </a:xfrm>
          <a:prstGeom prst="rect">
            <a:avLst/>
          </a:prstGeom>
          <a:noFill/>
          <a:ln>
            <a:noFill/>
          </a:ln>
        </p:spPr>
        <p:txBody>
          <a:bodyPr wrap="square" lIns="45719" rIns="45719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35000"/>
              </a:lnSpc>
            </a:pPr>
            <a:r>
              <a:rPr sz="1056" b="0" i="0">
                <a:solidFill>
                  <a:srgbClr val="1A3A44"/>
                </a:solidFill>
                <a:latin typeface="Roboto"/>
              </a:rPr>
              <a:t>OTP Gestiona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4690" y="3208734"/>
            <a:ext cx="207258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2024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5255" y="3532584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4690" y="3856434"/>
            <a:ext cx="2072580" cy="180975"/>
          </a:xfrm>
          <a:prstGeom prst="rect">
            <a:avLst/>
          </a:prstGeom>
          <a:noFill/>
          <a:ln>
            <a:noFill/>
          </a:ln>
        </p:spPr>
        <p:txBody>
          <a:bodyPr wrap="square" lIns="45719" rIns="45719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35000"/>
              </a:lnSpc>
            </a:pPr>
            <a:r>
              <a:rPr sz="1056" b="0" i="0">
                <a:solidFill>
                  <a:srgbClr val="1A3A44"/>
                </a:solidFill>
                <a:latin typeface="Roboto"/>
              </a:rPr>
              <a:t>Gestiona Factory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671" y="3208734"/>
            <a:ext cx="2072729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260" b="1" i="0">
                <a:solidFill>
                  <a:srgbClr val="7FB927"/>
                </a:solidFill>
                <a:latin typeface="Roboto"/>
              </a:rPr>
              <a:t>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60236" y="3532584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 w="381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671" y="3856434"/>
            <a:ext cx="2072729" cy="180975"/>
          </a:xfrm>
          <a:prstGeom prst="rect">
            <a:avLst/>
          </a:prstGeom>
          <a:noFill/>
          <a:ln>
            <a:noFill/>
          </a:ln>
        </p:spPr>
        <p:txBody>
          <a:bodyPr wrap="square" lIns="45719" rIns="45719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35000"/>
              </a:lnSpc>
            </a:pPr>
            <a:r>
              <a:rPr sz="1056" b="0" i="0">
                <a:solidFill>
                  <a:srgbClr val="1A3A44"/>
                </a:solidFill>
                <a:latin typeface="Roboto"/>
              </a:rPr>
              <a:t>Gestiona Developers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456509"/>
            <a:ext cx="10972800" cy="2214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5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L'API creix de manera contínua amb nous serveis: població, territori, comptabilitat, tributària i nòmina.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Característiques integracions Factory i Developers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2471738"/>
            <a:ext cx="3136850" cy="2657475"/>
          </a:xfrm>
          <a:prstGeom prst="roundRect">
            <a:avLst>
              <a:gd name="adj" fmla="val 501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2471738"/>
            <a:ext cx="31368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73201" y="289083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3767138"/>
            <a:ext cx="2527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Màxima personalització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50" y="4090988"/>
            <a:ext cx="2527250" cy="6429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Adaptada completament a les necessitats específiques de la vostre entitat.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7500" y="2471738"/>
            <a:ext cx="3136999" cy="2657475"/>
          </a:xfrm>
          <a:prstGeom prst="roundRect">
            <a:avLst>
              <a:gd name="adj" fmla="val 501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7500" y="2471738"/>
            <a:ext cx="3136999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53100" y="289083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2300" y="3767138"/>
            <a:ext cx="2527399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Planificada per l'entitat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2300" y="4090988"/>
            <a:ext cx="2527399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Vosaltres decidiu el calendari, les fases i els hitos del projecte.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7400" y="2471738"/>
            <a:ext cx="3136850" cy="2657475"/>
          </a:xfrm>
          <a:prstGeom prst="roundRect">
            <a:avLst>
              <a:gd name="adj" fmla="val 5017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7400" y="2471738"/>
            <a:ext cx="31368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2850" y="289083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2200" y="3767138"/>
            <a:ext cx="25272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Autonomia en evolució i manteniment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200" y="4319588"/>
            <a:ext cx="252725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Plena independència per evolucionar i mantenir la integració.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176588" y="2947988"/>
            <a:ext cx="5838676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3900" b="1" i="0">
                <a:solidFill>
                  <a:srgbClr val="FFFFFF"/>
                </a:solidFill>
                <a:latin typeface="Roboto"/>
              </a:rPr>
              <a:t>Migració Anexa a Gestiona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379571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Línies de treball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2478881"/>
            <a:ext cx="3136850" cy="2643188"/>
          </a:xfrm>
          <a:prstGeom prst="roundRect">
            <a:avLst>
              <a:gd name="adj" fmla="val 5045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2478881"/>
            <a:ext cx="31368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73201" y="2897981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3774281"/>
            <a:ext cx="2527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Roadmap Gestiona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50" y="4098131"/>
            <a:ext cx="2527250" cy="6429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Funcionalidades desarrolladas y desplegadas dentro de la estrategia general de desarrollo de producto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7500" y="2478881"/>
            <a:ext cx="3136999" cy="2643188"/>
          </a:xfrm>
          <a:prstGeom prst="roundRect">
            <a:avLst>
              <a:gd name="adj" fmla="val 5045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7500" y="2478881"/>
            <a:ext cx="3136999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53100" y="2897981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2300" y="3774281"/>
            <a:ext cx="2527399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Gestiona Factory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32300" y="4098131"/>
            <a:ext cx="2527399" cy="6429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Desenvolupaments a mida per a necessitats específiques no previstes al roadmap.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7400" y="2478881"/>
            <a:ext cx="3136850" cy="2643188"/>
          </a:xfrm>
          <a:prstGeom prst="roundRect">
            <a:avLst>
              <a:gd name="adj" fmla="val 5045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7400" y="2478881"/>
            <a:ext cx="313685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232850" y="2897981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2200" y="3774281"/>
            <a:ext cx="252725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Implantació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2200" y="4098131"/>
            <a:ext cx="2527250" cy="6429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Funcionalitats ja cobertes pel producte estàndard, a configurar durant el projecte d'implantació.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Roadmap Gestiona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057400"/>
            <a:ext cx="5925294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057400"/>
            <a:ext cx="5925294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Qüestió a tractar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34894" y="2057400"/>
            <a:ext cx="2523679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4894" y="2057400"/>
            <a:ext cx="2523679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Ho cobreix Gestiona avui?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8573" y="2057400"/>
            <a:ext cx="2523827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8573" y="2057400"/>
            <a:ext cx="2523827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Roadmap Gestiona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600" y="2409825"/>
            <a:ext cx="5925294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2838152"/>
            <a:ext cx="5925294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600" y="2409825"/>
            <a:ext cx="5925294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ENI que segueixi unes pautes específiques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4894" y="2409825"/>
            <a:ext cx="2523679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4894" y="2838152"/>
            <a:ext cx="2523679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4894" y="2409825"/>
            <a:ext cx="2523679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8573" y="2409825"/>
            <a:ext cx="2523827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58573" y="2838152"/>
            <a:ext cx="2523827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8573" y="2409825"/>
            <a:ext cx="2523827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5A7A84"/>
                </a:solidFill>
                <a:latin typeface="Robot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2847677"/>
            <a:ext cx="5925294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299817"/>
            <a:ext cx="5925294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2847677"/>
            <a:ext cx="5925294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SEU: idioma aranès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4894" y="2847677"/>
            <a:ext cx="2523679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4894" y="3299817"/>
            <a:ext cx="2523679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4894" y="2847677"/>
            <a:ext cx="2523679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8573" y="2847677"/>
            <a:ext cx="2523827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8573" y="3299817"/>
            <a:ext cx="2523827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8573" y="2847677"/>
            <a:ext cx="2523827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3309342"/>
            <a:ext cx="5925294" cy="5732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3873103"/>
            <a:ext cx="5925294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9600" y="3309342"/>
            <a:ext cx="5925294" cy="573286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Integració S@RCAT (actualment a Annexa es resol amb RPA que trasllada els registres al S@RCAT)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4894" y="3309342"/>
            <a:ext cx="2523679" cy="5732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34894" y="3873103"/>
            <a:ext cx="2523679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4894" y="3309342"/>
            <a:ext cx="2523679" cy="573286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58573" y="3309342"/>
            <a:ext cx="2523827" cy="5732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58573" y="3873103"/>
            <a:ext cx="2523827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8573" y="3309342"/>
            <a:ext cx="2523827" cy="573286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9600" y="3882628"/>
            <a:ext cx="5925294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9600" y="4334768"/>
            <a:ext cx="5925294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9600" y="3882628"/>
            <a:ext cx="5925294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Integració e-VALISA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34894" y="3882628"/>
            <a:ext cx="2523679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34894" y="4334768"/>
            <a:ext cx="2523679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4894" y="3882628"/>
            <a:ext cx="2523679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58573" y="3882628"/>
            <a:ext cx="2523827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58573" y="4334768"/>
            <a:ext cx="2523827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8573" y="3882628"/>
            <a:ext cx="2523827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09600" y="4344293"/>
            <a:ext cx="5925294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09600" y="4796433"/>
            <a:ext cx="5925294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9600" y="4344293"/>
            <a:ext cx="5925294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Número d'expedient per procediment (no únic)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4894" y="4344293"/>
            <a:ext cx="2523679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534894" y="4796433"/>
            <a:ext cx="2523679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4894" y="4344293"/>
            <a:ext cx="2523679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58573" y="4344293"/>
            <a:ext cx="2523827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58573" y="4796433"/>
            <a:ext cx="2523827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8573" y="4344293"/>
            <a:ext cx="2523827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09600" y="4805958"/>
            <a:ext cx="5925294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09600" y="5258098"/>
            <a:ext cx="5925294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9600" y="4805958"/>
            <a:ext cx="5925294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Tipologies documentals amb nivell d'accés propi, que pot prevaler sobre el de l'expedient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34894" y="4805958"/>
            <a:ext cx="2523679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534894" y="5258098"/>
            <a:ext cx="2523679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34894" y="4805958"/>
            <a:ext cx="2523679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058573" y="4805958"/>
            <a:ext cx="2523827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58573" y="5258098"/>
            <a:ext cx="2523827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8573" y="4805958"/>
            <a:ext cx="2523827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9600" y="5267623"/>
            <a:ext cx="5925294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09600" y="5719762"/>
            <a:ext cx="5925294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09600" y="5267623"/>
            <a:ext cx="5925294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Rols de tercers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34894" y="5267623"/>
            <a:ext cx="2523679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34894" y="5719762"/>
            <a:ext cx="2523679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34894" y="5267623"/>
            <a:ext cx="2523679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058573" y="5267623"/>
            <a:ext cx="2523827" cy="46166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058573" y="5719762"/>
            <a:ext cx="2523827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058573" y="5267623"/>
            <a:ext cx="2523827" cy="46166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3D5C66"/>
                </a:solidFill>
                <a:latin typeface="Roboto"/>
              </a:rPr>
              <a:t>No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Gestiona Factory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47750" y="2497931"/>
            <a:ext cx="4876800" cy="2605088"/>
          </a:xfrm>
          <a:prstGeom prst="roundRect">
            <a:avLst>
              <a:gd name="adj" fmla="val 5118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2497931"/>
            <a:ext cx="48768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43250" y="2917031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52550" y="3793331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Cercador de dictàmens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2550" y="4117181"/>
            <a:ext cx="42672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SEU: cercador de "Dictàmens, informes i resolucions".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3288" y="4483894"/>
            <a:ext cx="1025723" cy="238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4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3288" y="4483894"/>
            <a:ext cx="1025723" cy="238125"/>
          </a:xfrm>
          <a:prstGeom prst="rect">
            <a:avLst/>
          </a:prstGeom>
          <a:noFill/>
          <a:ln>
            <a:noFill/>
          </a:ln>
        </p:spPr>
        <p:txBody>
          <a:bodyPr wrap="square" lIns="91439" rIns="91439" tIns="30480" bIns="3048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36" b="1" i="0">
                <a:solidFill>
                  <a:srgbClr val="3D5C66"/>
                </a:solidFill>
                <a:latin typeface="Roboto"/>
              </a:rPr>
              <a:t>No cobert avui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7450" y="2497931"/>
            <a:ext cx="4876800" cy="2605088"/>
          </a:xfrm>
          <a:prstGeom prst="roundRect">
            <a:avLst>
              <a:gd name="adj" fmla="val 5118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7450" y="2497931"/>
            <a:ext cx="48768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2950" y="2917031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2250" y="3793331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Mòdul de CENSUS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4117181"/>
            <a:ext cx="42672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Per al Delegat de Protecció de Dades (DPD).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92988" y="4483894"/>
            <a:ext cx="1025723" cy="2381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4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2988" y="4483894"/>
            <a:ext cx="1025723" cy="238125"/>
          </a:xfrm>
          <a:prstGeom prst="rect">
            <a:avLst/>
          </a:prstGeom>
          <a:noFill/>
          <a:ln>
            <a:noFill/>
          </a:ln>
        </p:spPr>
        <p:txBody>
          <a:bodyPr wrap="square" lIns="91439" rIns="91439" tIns="30480" bIns="3048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936" b="1" i="0">
                <a:solidFill>
                  <a:srgbClr val="3D5C66"/>
                </a:solidFill>
                <a:latin typeface="Roboto"/>
              </a:rPr>
              <a:t>No cobert avui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Implantació </a:t>
            </a:r>
            <a:r>
              <a:rPr sz="2700" b="1" i="0">
                <a:solidFill>
                  <a:srgbClr val="5A7A84"/>
                </a:solidFill>
                <a:latin typeface="Roboto"/>
              </a:rPr>
              <a:t>(1 de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391668"/>
            <a:ext cx="7900392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391668"/>
            <a:ext cx="7900392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Qüestió a tractar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9992" y="2391668"/>
            <a:ext cx="3072408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9992" y="2391668"/>
            <a:ext cx="3072408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Ho cobreix Gestiona avui?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744093"/>
            <a:ext cx="7900392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172420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744093"/>
            <a:ext cx="7900392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Plena capacitat de les auditories: àgils, senzilles i detallades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9992" y="2744093"/>
            <a:ext cx="3072408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9992" y="3172420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9992" y="2744093"/>
            <a:ext cx="3072408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181945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3615035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181945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Accés únic dels usuaris mitjançant Microsoft, sense usuari ni contrasenya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9992" y="3181945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9992" y="3615035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9992" y="3181945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3624560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4057650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3624560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SEU: requisits d'imatge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9992" y="3624560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9992" y="4057650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9992" y="3624560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067175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4500265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4067175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Descriptors: metadades personalitzades als documents de resolució anonimitzada publicats a la SEU, en grups de 4 nivells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992" y="4067175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9992" y="4500265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9992" y="4067175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4509790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4942880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4509790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Integració EACAT 3.0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9992" y="4509790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9992" y="4942880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9992" y="4509790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4952405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5385495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4952405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Resta d'integracions AOC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9992" y="4952405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09992" y="5385495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9992" y="4952405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Implantació </a:t>
            </a:r>
            <a:r>
              <a:rPr sz="2700" b="1" i="0">
                <a:solidFill>
                  <a:srgbClr val="5A7A84"/>
                </a:solidFill>
                <a:latin typeface="Roboto"/>
              </a:rPr>
              <a:t>(2 de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326332"/>
            <a:ext cx="7900392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326332"/>
            <a:ext cx="7900392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Qüestió a tractar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9992" y="2326332"/>
            <a:ext cx="3072408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9992" y="2326332"/>
            <a:ext cx="3072408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Ho cobreix Gestiona avui?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678757"/>
            <a:ext cx="7900392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107085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678757"/>
            <a:ext cx="7900392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Vulnerabilitats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9992" y="2678757"/>
            <a:ext cx="3072408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9992" y="3107085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9992" y="2678757"/>
            <a:ext cx="3072408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116610"/>
            <a:ext cx="7900392" cy="5732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3680371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116610"/>
            <a:ext cx="7900392" cy="573286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Metadades eEMGDE8 (seguretat) i eEMGDE9 (drets d'accés, ús i reutilització): restricció d'accés del personal intern segons aquests valors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9992" y="3116610"/>
            <a:ext cx="3072408" cy="57328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9992" y="3680371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9992" y="3116610"/>
            <a:ext cx="3072408" cy="573286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3689896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4122986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3689896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Camps personalitzats i extracció de dades per a la seva anàlisi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9992" y="3689896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9992" y="4122986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9992" y="3689896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132511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4565600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4132511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Gestió de volums d'arxius grans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992" y="4132511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9992" y="4565600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9992" y="4132511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4575125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5008215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4575125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Consultes: alternativa amb Analiza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9992" y="4575125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9992" y="5008215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9992" y="4575125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9600" y="5017740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600" y="5450830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9600" y="5017740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Obrir/crear expedient a partir d'un altre amb trasllat de dades (p. ex. crear IP a partir de PT, o PS a partir d'IP)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09992" y="5017740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509992" y="5450830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09992" y="5017740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Implantació </a:t>
            </a:r>
            <a:r>
              <a:rPr sz="2700" b="1" i="0">
                <a:solidFill>
                  <a:srgbClr val="5A7A84"/>
                </a:solidFill>
                <a:latin typeface="Roboto"/>
              </a:rPr>
              <a:t>(3 de 3)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612975"/>
            <a:ext cx="7900392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612975"/>
            <a:ext cx="7900392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Qüestió a tractar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9992" y="2612975"/>
            <a:ext cx="3072408" cy="352425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9992" y="2612975"/>
            <a:ext cx="3072408" cy="35242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087" b="1" i="0">
                <a:solidFill>
                  <a:srgbClr val="FFFFFF"/>
                </a:solidFill>
                <a:latin typeface="Roboto"/>
              </a:rPr>
              <a:t>Ho cobreix Gestiona avui?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965400"/>
            <a:ext cx="7900392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393728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9600" y="2965400"/>
            <a:ext cx="7900392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Edició en línia dels documents (Word)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9992" y="2965400"/>
            <a:ext cx="3072408" cy="437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509992" y="3393728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9992" y="2965400"/>
            <a:ext cx="3072408" cy="437852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3403253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" y="3836343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3403253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Notificacions en paper que cal dipositar a la SEU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9992" y="3403253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09992" y="3836343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9992" y="3403253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3845868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4278957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600" y="3845868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Firma amb targeta T-CAT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9992" y="3845868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509992" y="4278957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9992" y="3845868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9600" y="4288482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9600" y="4721572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9600" y="4288482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Entorn de preproducció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09992" y="4288482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09992" y="4721572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9992" y="4288482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4731097"/>
            <a:ext cx="7900392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9600" y="5164187"/>
            <a:ext cx="7900392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9600" y="4731097"/>
            <a:ext cx="7900392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0" i="0">
                <a:solidFill>
                  <a:srgbClr val="1A3A44"/>
                </a:solidFill>
                <a:latin typeface="Roboto"/>
              </a:rPr>
              <a:t>Creació de documents a partir d'un altre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9992" y="4731097"/>
            <a:ext cx="3072408" cy="44261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9992" y="5164187"/>
            <a:ext cx="3072408" cy="9525"/>
          </a:xfrm>
          <a:prstGeom prst="rect">
            <a:avLst/>
          </a:prstGeom>
          <a:solidFill>
            <a:srgbClr val="D4DE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9992" y="4731097"/>
            <a:ext cx="3072408" cy="442615"/>
          </a:xfrm>
          <a:prstGeom prst="rect">
            <a:avLst/>
          </a:prstGeom>
          <a:noFill/>
          <a:ln>
            <a:noFill/>
          </a:ln>
        </p:spPr>
        <p:txBody>
          <a:bodyPr wrap="square" lIns="137160" rIns="137160" tIns="76200" bIns="762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40000"/>
              </a:lnSpc>
            </a:pPr>
            <a:r>
              <a:rPr sz="1050" b="1" i="0">
                <a:solidFill>
                  <a:srgbClr val="5A8A17"/>
                </a:solidFill>
                <a:latin typeface="Roboto"/>
              </a:rPr>
              <a:t>Sí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609600"/>
            <a:ext cx="47625" cy="400050"/>
          </a:xfrm>
          <a:prstGeom prst="rect">
            <a:avLst/>
          </a:prstGeom>
          <a:solidFill>
            <a:srgbClr val="AA9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lIns="15240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2700" b="1" i="0">
                <a:solidFill>
                  <a:srgbClr val="003040"/>
                </a:solidFill>
                <a:latin typeface="Roboto"/>
              </a:rPr>
              <a:t>Proposta d'implantació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7750" y="1834604"/>
            <a:ext cx="10096500" cy="1083766"/>
          </a:xfrm>
          <a:prstGeom prst="rect">
            <a:avLst/>
          </a:prstGeom>
          <a:solidFill>
            <a:srgbClr val="7FB927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47750" y="1834604"/>
            <a:ext cx="38100" cy="1083766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52550" y="2063204"/>
            <a:ext cx="9525000" cy="53131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lnSpc>
                <a:spcPct val="154999"/>
              </a:lnSpc>
            </a:pPr>
            <a:r>
              <a:rPr sz="1350" b="1" i="0">
                <a:solidFill>
                  <a:srgbClr val="1A3A44"/>
                </a:solidFill>
                <a:latin typeface="Roboto"/>
              </a:rPr>
              <a:t>Proposta:</a:t>
            </a:r>
            <a:r>
              <a:rPr sz="1350" b="0" i="0">
                <a:solidFill>
                  <a:srgbClr val="3D5C66"/>
                </a:solidFill>
                <a:latin typeface="Roboto"/>
              </a:rPr>
              <a:t> construcció d'un </a:t>
            </a:r>
            <a:r>
              <a:rPr sz="1350" b="1" i="0">
                <a:solidFill>
                  <a:srgbClr val="1A3A44"/>
                </a:solidFill>
                <a:latin typeface="Roboto"/>
              </a:rPr>
              <a:t>bessó digital</a:t>
            </a:r>
            <a:r>
              <a:rPr sz="1350" b="0" i="0">
                <a:solidFill>
                  <a:srgbClr val="3D5C66"/>
                </a:solidFill>
                <a:latin typeface="Roboto"/>
              </a:rPr>
              <a:t> en entorn demo, a càrrec de l'equip d'especialistes de Gestiona, com a base objectiva per a la presa de decisió final sobre la implantació.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7750" y="3337471"/>
            <a:ext cx="4876800" cy="2428875"/>
          </a:xfrm>
          <a:prstGeom prst="roundRect">
            <a:avLst>
              <a:gd name="adj" fmla="val 549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7750" y="3337471"/>
            <a:ext cx="48768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143250" y="3756571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52550" y="4632871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Validació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2550" y="4956721"/>
            <a:ext cx="42672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El </a:t>
            </a:r>
            <a:r>
              <a:rPr sz="1125" b="1" i="0">
                <a:solidFill>
                  <a:srgbClr val="1A3A44"/>
                </a:solidFill>
                <a:latin typeface="Roboto"/>
              </a:rPr>
              <a:t>bessó digital</a:t>
            </a:r>
            <a:r>
              <a:rPr sz="1125" b="0" i="0">
                <a:solidFill>
                  <a:srgbClr val="3D5C66"/>
                </a:solidFill>
                <a:latin typeface="Roboto"/>
              </a:rPr>
              <a:t> en entorn demo, construït per </a:t>
            </a:r>
            <a:r>
              <a:rPr sz="1125" b="0" i="0">
                <a:solidFill>
                  <a:srgbClr val="3D5C66"/>
                </a:solidFill>
                <a:latin typeface="Roboto"/>
              </a:rPr>
              <a:t>l'equip d'especialistes</a:t>
            </a:r>
            <a:r>
              <a:rPr sz="1125" b="0" i="0">
                <a:solidFill>
                  <a:srgbClr val="3D5C66"/>
                </a:solidFill>
                <a:latin typeface="Roboto"/>
              </a:rPr>
              <a:t> de Gestiona.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7450" y="3337471"/>
            <a:ext cx="4876800" cy="2428875"/>
          </a:xfrm>
          <a:prstGeom prst="roundRect">
            <a:avLst>
              <a:gd name="adj" fmla="val 5490"/>
            </a:avLst>
          </a:prstGeom>
          <a:solidFill>
            <a:srgbClr val="ECF0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7450" y="3337471"/>
            <a:ext cx="4876800" cy="38100"/>
          </a:xfrm>
          <a:prstGeom prst="rect">
            <a:avLst/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62950" y="3756571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7FB9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72250" y="4632871"/>
            <a:ext cx="4267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1500" b="1" i="0">
                <a:solidFill>
                  <a:srgbClr val="7FB927"/>
                </a:solidFill>
                <a:latin typeface="Roboto"/>
              </a:rPr>
              <a:t>Desplegament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0" y="4956721"/>
            <a:ext cx="4267200" cy="4286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50000"/>
              </a:lnSpc>
            </a:pPr>
            <a:r>
              <a:rPr sz="1125" b="0" i="0">
                <a:solidFill>
                  <a:srgbClr val="3D5C66"/>
                </a:solidFill>
                <a:latin typeface="Roboto"/>
              </a:rPr>
              <a:t>El mateix entorn demo esdevé la base sobre la qual construir el pas a producció.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6352" y="2947988"/>
            <a:ext cx="8179296" cy="581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lnSpc>
                <a:spcPct val="120000"/>
              </a:lnSpc>
            </a:pPr>
            <a:r>
              <a:rPr sz="3900" b="1" i="0">
                <a:solidFill>
                  <a:srgbClr val="FFFFFF"/>
                </a:solidFill>
                <a:latin typeface="Roboto"/>
              </a:rPr>
              <a:t>T'acompanyem fins on vulguis arribar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3795712"/>
            <a:ext cx="762000" cy="38100"/>
          </a:xfrm>
          <a:prstGeom prst="roundRect">
            <a:avLst>
              <a:gd name="adj" fmla="val 50000"/>
            </a:avLst>
          </a:prstGeom>
          <a:solidFill>
            <a:srgbClr val="A8D1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