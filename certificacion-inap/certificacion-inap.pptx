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76265" y="2736503"/>
            <a:ext cx="663931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0" b="1" i="0" dirty="0" err="1">
                <a:solidFill>
                  <a:srgbClr val="003040"/>
                </a:solidFill>
                <a:latin typeface="Roboto"/>
              </a:rPr>
              <a:t>Gobernanza</a:t>
            </a:r>
            <a:r>
              <a:rPr sz="4500" b="1" i="0" dirty="0">
                <a:solidFill>
                  <a:srgbClr val="003040"/>
                </a:solidFill>
                <a:latin typeface="Roboto"/>
              </a:rPr>
              <a:t> </a:t>
            </a:r>
            <a:r>
              <a:rPr sz="4500" b="1" i="0" dirty="0">
                <a:solidFill>
                  <a:srgbClr val="006D85"/>
                </a:solidFill>
                <a:latin typeface="Roboto"/>
              </a:rPr>
              <a:t>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9291" y="3643511"/>
            <a:ext cx="4193265" cy="2539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i="0" dirty="0" err="1">
                <a:solidFill>
                  <a:srgbClr val="5A7A84"/>
                </a:solidFill>
                <a:latin typeface="Roboto"/>
              </a:rPr>
              <a:t>Certificación</a:t>
            </a:r>
            <a:r>
              <a:rPr sz="1650" b="0" i="0" dirty="0">
                <a:solidFill>
                  <a:srgbClr val="5A7A84"/>
                </a:solidFill>
                <a:latin typeface="Roboto"/>
              </a:rPr>
              <a:t> </a:t>
            </a:r>
            <a:r>
              <a:rPr sz="1650" b="0" i="0" dirty="0" err="1">
                <a:solidFill>
                  <a:srgbClr val="5A7A84"/>
                </a:solidFill>
                <a:latin typeface="Roboto"/>
              </a:rPr>
              <a:t>oficial</a:t>
            </a:r>
            <a:r>
              <a:rPr sz="1650" b="0" i="0" dirty="0">
                <a:solidFill>
                  <a:srgbClr val="5A7A84"/>
                </a:solidFill>
                <a:latin typeface="Roboto"/>
              </a:rPr>
              <a:t> </a:t>
            </a:r>
            <a:r>
              <a:rPr lang="es-ES" sz="1650" dirty="0">
                <a:solidFill>
                  <a:srgbClr val="5A7A84"/>
                </a:solidFill>
                <a:latin typeface="Roboto"/>
              </a:rPr>
              <a:t> </a:t>
            </a:r>
            <a:r>
              <a:rPr sz="1650" b="0" i="0" dirty="0" err="1">
                <a:solidFill>
                  <a:srgbClr val="5A7A84"/>
                </a:solidFill>
                <a:latin typeface="Roboto"/>
              </a:rPr>
              <a:t>esPublico</a:t>
            </a:r>
            <a:endParaRPr sz="1650" b="0" i="0" dirty="0">
              <a:solidFill>
                <a:srgbClr val="5A7A84"/>
              </a:solidFill>
              <a:latin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724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Por qué este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22339"/>
            <a:ext cx="109728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La administración pública española necesita directivos digitales 360º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25" y="2543175"/>
            <a:ext cx="10972800" cy="9002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 algn="l"/>
            <a:r>
              <a:rPr sz="1350" b="0" i="0" dirty="0">
                <a:solidFill>
                  <a:srgbClr val="3D5C66"/>
                </a:solidFill>
                <a:latin typeface="Roboto"/>
              </a:rPr>
              <a:t>La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modernización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del sector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público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ya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no es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una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opción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ni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un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proyecto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aislado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.</a:t>
            </a:r>
            <a:r>
              <a:rPr lang="es-ES"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Es un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cambio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estructural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que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exige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perfiles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capaces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de </a:t>
            </a:r>
            <a:r>
              <a:rPr sz="1350" b="1" i="0" dirty="0" err="1">
                <a:solidFill>
                  <a:srgbClr val="1A3A44"/>
                </a:solidFill>
                <a:latin typeface="Roboto"/>
              </a:rPr>
              <a:t>liderar</a:t>
            </a:r>
            <a:r>
              <a:rPr sz="1350" b="1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1" i="0" dirty="0" err="1">
                <a:solidFill>
                  <a:srgbClr val="1A3A44"/>
                </a:solidFill>
                <a:latin typeface="Roboto"/>
              </a:rPr>
              <a:t>tecnología</a:t>
            </a:r>
            <a:r>
              <a:rPr sz="1350" b="1" i="0" dirty="0">
                <a:solidFill>
                  <a:srgbClr val="1A3A44"/>
                </a:solidFill>
                <a:latin typeface="Roboto"/>
              </a:rPr>
              <a:t> con </a:t>
            </a:r>
            <a:r>
              <a:rPr sz="1350" b="1" i="0" dirty="0" err="1">
                <a:solidFill>
                  <a:srgbClr val="1A3A44"/>
                </a:solidFill>
                <a:latin typeface="Roboto"/>
              </a:rPr>
              <a:t>plenas</a:t>
            </a:r>
            <a:r>
              <a:rPr sz="1350" b="1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1" i="0" dirty="0" err="1">
                <a:solidFill>
                  <a:srgbClr val="1A3A44"/>
                </a:solidFill>
                <a:latin typeface="Roboto"/>
              </a:rPr>
              <a:t>garantías</a:t>
            </a:r>
            <a:r>
              <a:rPr sz="1350" b="1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1" i="0" dirty="0" err="1">
                <a:solidFill>
                  <a:srgbClr val="1A3A44"/>
                </a:solidFill>
                <a:latin typeface="Roboto"/>
              </a:rPr>
              <a:t>jurídicas</a:t>
            </a:r>
            <a:r>
              <a:rPr lang="es-ES" sz="1350" dirty="0">
                <a:solidFill>
                  <a:srgbClr val="3D5C66"/>
                </a:solidFill>
                <a:latin typeface="Roboto"/>
              </a:rPr>
              <a:t>,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y de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hacerlo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a la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velocidad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que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marcan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la UE, la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ciudadanía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 y la </a:t>
            </a:r>
            <a:r>
              <a:rPr sz="1350" b="0" i="0" dirty="0" err="1">
                <a:solidFill>
                  <a:srgbClr val="3D5C66"/>
                </a:solidFill>
                <a:latin typeface="Roboto"/>
              </a:rPr>
              <a:t>legislación</a:t>
            </a:r>
            <a:r>
              <a:rPr sz="1350" b="0" i="0" dirty="0">
                <a:solidFill>
                  <a:srgbClr val="3D5C66"/>
                </a:solidFill>
                <a:latin typeface="Roboto"/>
              </a:rPr>
              <a:t>.</a:t>
            </a:r>
          </a:p>
          <a:p>
            <a:pPr algn="l"/>
            <a:r>
              <a:rPr sz="1350" b="0" i="0" dirty="0">
                <a:solidFill>
                  <a:srgbClr val="3D5C66"/>
                </a:solidFill>
                <a:latin typeface="Roboto"/>
              </a:rPr>
              <a:t>      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3766245"/>
            <a:ext cx="3555950" cy="1312366"/>
          </a:xfrm>
          <a:prstGeom prst="roundRect">
            <a:avLst>
              <a:gd name="adj" fmla="val 10161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766245"/>
            <a:ext cx="3555950" cy="38100"/>
          </a:xfrm>
          <a:prstGeom prst="rect">
            <a:avLst/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8200" y="4032945"/>
            <a:ext cx="309875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6D85"/>
                </a:solidFill>
                <a:latin typeface="Roboto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423470"/>
            <a:ext cx="3098750" cy="4265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1A3A44"/>
                </a:solidFill>
                <a:latin typeface="Roboto"/>
              </a:rPr>
              <a:t>AI Act UE</a:t>
            </a:r>
            <a:r>
              <a:rPr sz="1200" b="0" i="0" dirty="0">
                <a:solidFill>
                  <a:srgbClr val="3D5C66"/>
                </a:solidFill>
                <a:latin typeface="Roboto"/>
              </a:rPr>
              <a:t>: Las AAPP son </a:t>
            </a:r>
            <a:r>
              <a:rPr sz="1200" b="0" i="0" dirty="0" err="1">
                <a:solidFill>
                  <a:srgbClr val="3D5C66"/>
                </a:solidFill>
                <a:latin typeface="Roboto"/>
              </a:rPr>
              <a:t>considerados</a:t>
            </a:r>
            <a:r>
              <a:rPr sz="1200" b="0" i="0" dirty="0">
                <a:solidFill>
                  <a:srgbClr val="3D5C66"/>
                </a:solidFill>
                <a:latin typeface="Roboto"/>
              </a:rPr>
              <a:t> deployers </a:t>
            </a:r>
            <a:r>
              <a:rPr sz="1200" b="0" i="0" dirty="0" err="1">
                <a:solidFill>
                  <a:srgbClr val="3D5C66"/>
                </a:solidFill>
                <a:latin typeface="Roboto"/>
              </a:rPr>
              <a:t>obligados</a:t>
            </a:r>
            <a:r>
              <a:rPr sz="1200" b="0" i="0" dirty="0">
                <a:solidFill>
                  <a:srgbClr val="3D5C66"/>
                </a:solidFill>
                <a:latin typeface="Roboto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7950" y="3766245"/>
            <a:ext cx="3555950" cy="1312366"/>
          </a:xfrm>
          <a:prstGeom prst="roundRect">
            <a:avLst>
              <a:gd name="adj" fmla="val 10161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7950" y="3766245"/>
            <a:ext cx="3555950" cy="38100"/>
          </a:xfrm>
          <a:prstGeom prst="rect">
            <a:avLst/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6550" y="4032945"/>
            <a:ext cx="309875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6D85"/>
                </a:solidFill>
                <a:latin typeface="Roboto"/>
              </a:rPr>
              <a:t>+30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50" y="4423470"/>
            <a:ext cx="3098750" cy="4265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5C66"/>
                </a:solidFill>
                <a:latin typeface="Roboto"/>
              </a:rPr>
              <a:t>Normas digitales: ENS, ENI, eIDAS, NIS2, Data Act…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6301" y="3766245"/>
            <a:ext cx="3556099" cy="1312366"/>
          </a:xfrm>
          <a:prstGeom prst="roundRect">
            <a:avLst>
              <a:gd name="adj" fmla="val 10161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6301" y="3766245"/>
            <a:ext cx="3556099" cy="38100"/>
          </a:xfrm>
          <a:prstGeom prst="rect">
            <a:avLst/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4901" y="4032945"/>
            <a:ext cx="3098899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6D85"/>
                </a:solidFill>
                <a:latin typeface="Roboto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4901" y="4423470"/>
            <a:ext cx="3098899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5C66"/>
                </a:solidFill>
                <a:latin typeface="Roboto"/>
              </a:rPr>
              <a:t>Competencias digitales Marco INAP v3.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La visión de esPublico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825055"/>
            <a:ext cx="4876800" cy="1950690"/>
          </a:xfrm>
          <a:prstGeom prst="roundRect">
            <a:avLst>
              <a:gd name="adj" fmla="val 9765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2985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Roboto"/>
              </a:rPr>
              <a:t>Cumplimiento normativo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56546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Roboto"/>
              </a:rPr>
              <a:t>Toda decisión tecnológica en una AAPP afecta derechos, procedimientos, presupuesto y responsabilidad. Aquí se aprende a diseñar, parametrizar, contratar y operar tecnología con garantías.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6222" y="3571726"/>
            <a:ext cx="25940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06D85"/>
                </a:solidFill>
                <a:latin typeface="Roboto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00" y="2825055"/>
            <a:ext cx="4876800" cy="1950690"/>
          </a:xfrm>
          <a:prstGeom prst="roundRect">
            <a:avLst>
              <a:gd name="adj" fmla="val 9765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10400" y="324415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Roboto"/>
              </a:rPr>
              <a:t>Innovación tecnológica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3670846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Roboto"/>
              </a:rPr>
              <a:t>La administración no se moderniza con un cambio de plataforma, sino con la incorporación crítica, segura y útil de capacidades emergentes en los trabajadores públicos.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Propuesta de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543050"/>
            <a:ext cx="2600325" cy="1964680"/>
          </a:xfrm>
          <a:prstGeom prst="roundRect">
            <a:avLst>
              <a:gd name="adj" fmla="val 6787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1771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41235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Visión 360º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669530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Capacidad para integrar la dimensión jurídica, tecnológica, estratégica y de servicio en cada decisión.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0425" y="1543050"/>
            <a:ext cx="2600325" cy="1964680"/>
          </a:xfrm>
          <a:prstGeom prst="roundRect">
            <a:avLst>
              <a:gd name="adj" fmla="val 6787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29025" y="1771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241235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Compliance-by-design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2669530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Capacidad para diseñar y contratar tecnología pública con plenas garantías jurídicas desde el inicio.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1543050"/>
            <a:ext cx="2600325" cy="1964680"/>
          </a:xfrm>
          <a:prstGeom prst="roundRect">
            <a:avLst>
              <a:gd name="adj" fmla="val 6787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850" y="1771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41235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Caja de herramientas aplicada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2669530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Plantillas, metodologías y casos para EIPD, FRIA, auditorías, contratación de IA, gobierno del dato…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2075" y="1543050"/>
            <a:ext cx="2600325" cy="1964680"/>
          </a:xfrm>
          <a:prstGeom prst="roundRect">
            <a:avLst>
              <a:gd name="adj" fmla="val 6787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0675" y="1771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675" y="241235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Red profesional viva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0675" y="2669530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Comunidad de práctica permanente con directivos públicos, reguladores y consultores del ecosistema.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3698230"/>
            <a:ext cx="2600325" cy="2145655"/>
          </a:xfrm>
          <a:prstGeom prst="roundRect">
            <a:avLst>
              <a:gd name="adj" fmla="val 6214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200" y="392683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456753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GovTech-Compliance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824710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Integración de tecnología emergente con garantías jurídicas y cumplimiento normativo desde el diseño.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0425" y="3698230"/>
            <a:ext cx="2600325" cy="2145655"/>
          </a:xfrm>
          <a:prstGeom prst="roundRect">
            <a:avLst>
              <a:gd name="adj" fmla="val 6214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29025" y="392683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9025" y="4567535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Visión de producto digital público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9025" y="5005685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Capacidad para concebir, diseñar y gobernar servicios digitales públicos con mentalidad de producto.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250" y="3698230"/>
            <a:ext cx="2600325" cy="2145655"/>
          </a:xfrm>
          <a:prstGeom prst="roundRect">
            <a:avLst>
              <a:gd name="adj" fmla="val 6214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850" y="392683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850" y="4567535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Gobernanza algorítmica transversal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850" y="5005685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Marcos y competencias para auditar, gobernar y rendir cuentas sobre sistemas de IA en las AAPP.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2075" y="3698230"/>
            <a:ext cx="2600325" cy="2145655"/>
          </a:xfrm>
          <a:prstGeom prst="roundRect">
            <a:avLst>
              <a:gd name="adj" fmla="val 6214"/>
            </a:avLst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10675" y="392683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5FFFDF"/>
                </a:solidFill>
                <a:latin typeface="Roboto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0675" y="456753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Comunidad post-titulación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0675" y="4824710"/>
            <a:ext cx="21431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Roboto"/>
              </a:rPr>
              <a:t>Pertenencia a red profesional permanente. El programa no termina con la certificación.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600" y="6034385"/>
            <a:ext cx="10972800" cy="682823"/>
          </a:xfrm>
          <a:prstGeom prst="roundRect">
            <a:avLst>
              <a:gd name="adj" fmla="val 19529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0100" y="6041827"/>
            <a:ext cx="10591800" cy="2065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 algn="ctr"/>
            <a:r>
              <a:rPr sz="1050" b="0" i="0" dirty="0">
                <a:solidFill>
                  <a:srgbClr val="003040"/>
                </a:solidFill>
                <a:latin typeface="Roboto"/>
              </a:rPr>
              <a:t>                    </a:t>
            </a:r>
            <a:r>
              <a:rPr sz="1050" b="1" i="0" dirty="0" err="1">
                <a:solidFill>
                  <a:srgbClr val="1A3A44"/>
                </a:solidFill>
                <a:latin typeface="Roboto"/>
              </a:rPr>
              <a:t>Certificación</a:t>
            </a:r>
            <a:r>
              <a:rPr sz="1050" b="1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050" b="1" i="0" dirty="0" err="1">
                <a:solidFill>
                  <a:srgbClr val="1A3A44"/>
                </a:solidFill>
                <a:latin typeface="Roboto"/>
              </a:rPr>
              <a:t>oficial</a:t>
            </a:r>
            <a:r>
              <a:rPr sz="1050" b="1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050" b="1" i="0" dirty="0" err="1">
                <a:solidFill>
                  <a:srgbClr val="1A3A44"/>
                </a:solidFill>
                <a:latin typeface="Roboto"/>
              </a:rPr>
              <a:t>esPublico</a:t>
            </a:r>
            <a:r>
              <a:rPr sz="1050" b="0" i="0" dirty="0">
                <a:solidFill>
                  <a:srgbClr val="003040"/>
                </a:solidFill>
                <a:latin typeface="Roboto"/>
              </a:rPr>
              <a:t> · </a:t>
            </a:r>
            <a:r>
              <a:rPr sz="1050" b="0" i="0" dirty="0" err="1">
                <a:solidFill>
                  <a:srgbClr val="003040"/>
                </a:solidFill>
                <a:latin typeface="Roboto"/>
              </a:rPr>
              <a:t>vigencia</a:t>
            </a:r>
            <a:r>
              <a:rPr sz="1050" b="0" i="0" dirty="0">
                <a:solidFill>
                  <a:srgbClr val="003040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003040"/>
                </a:solidFill>
                <a:latin typeface="Roboto"/>
              </a:rPr>
              <a:t>renovable</a:t>
            </a:r>
            <a:r>
              <a:rPr sz="1050" b="0" i="0" dirty="0">
                <a:solidFill>
                  <a:srgbClr val="003040"/>
                </a:solidFill>
                <a:latin typeface="Roboto"/>
              </a:rPr>
              <a:t> · compatible con </a:t>
            </a:r>
            <a:r>
              <a:rPr sz="1050" b="0" i="0" dirty="0" err="1">
                <a:solidFill>
                  <a:srgbClr val="003040"/>
                </a:solidFill>
                <a:latin typeface="Roboto"/>
              </a:rPr>
              <a:t>homologación</a:t>
            </a:r>
            <a:r>
              <a:rPr sz="1050" b="0" i="0" dirty="0">
                <a:solidFill>
                  <a:srgbClr val="003040"/>
                </a:solidFill>
                <a:latin typeface="Roboto"/>
              </a:rPr>
              <a:t> INAP / AFEDAP.</a:t>
            </a:r>
          </a:p>
          <a:p>
            <a:pPr algn="ctr"/>
            <a:r>
              <a:rPr sz="1050" b="0" i="0" dirty="0">
                <a:solidFill>
                  <a:srgbClr val="003040"/>
                </a:solidFill>
                <a:latin typeface="Roboto"/>
              </a:rPr>
              <a:t>         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1 Fundamentos y contexto de la administración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85975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Marco normativo y contexto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527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Leyes 39/2015, 40/2015 y 11/2023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2417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Carta de derechos digitales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956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GovTech, Open Gov y New Public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671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Agenda España Digital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386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Estrategia Nacional de Inteligencia Artificial (AENIA)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1007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Cartografía institucional España: SGAD, INAP, AEPD, CCN-CERT, AESIA.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7815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Cartografía institucional UE: ENISA, EDPS, EDIB, Oficina de 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2220218"/>
            <a:ext cx="3619500" cy="3244411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2</a:t>
            </a:r>
            <a:r>
              <a:rPr lang="es-ES" sz="1800" b="1" i="0" dirty="0">
                <a:solidFill>
                  <a:srgbClr val="FFFFFF"/>
                </a:solidFill>
                <a:latin typeface="Roboto"/>
              </a:rPr>
              <a:t>0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i="0" dirty="0">
                <a:solidFill>
                  <a:srgbClr val="FFFFFF"/>
                </a:solidFill>
                <a:latin typeface="Roboto"/>
              </a:rPr>
              <a:t>2 sesiones de 1 hora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i="0" dirty="0">
                <a:solidFill>
                  <a:srgbClr val="FFFFFF"/>
                </a:solidFill>
                <a:latin typeface="Roboto"/>
              </a:rPr>
              <a:t>NO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5050944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ESPUBLICO + BORJA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6643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2 Privacidad y control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95488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Garantías jurídicas digitales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62212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Régimen</a:t>
            </a:r>
            <a:r>
              <a:rPr sz="135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específico</a:t>
            </a:r>
            <a:r>
              <a:rPr sz="1350" dirty="0">
                <a:solidFill>
                  <a:srgbClr val="1A3A44"/>
                </a:solidFill>
                <a:latin typeface="Roboto"/>
              </a:rPr>
              <a:t> AAPP: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misión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interés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público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comunicaciones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datos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sensibles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33688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>
                <a:solidFill>
                  <a:srgbClr val="1A3A44"/>
                </a:solidFill>
                <a:latin typeface="Roboto"/>
              </a:rPr>
              <a:t>RGPD y LOPDGDD: bases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jurídicas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derechos,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encargados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transferencias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05162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>
                <a:solidFill>
                  <a:srgbClr val="1A3A44"/>
                </a:solidFill>
                <a:latin typeface="Roboto"/>
              </a:rPr>
              <a:t>EIPD</a:t>
            </a:r>
            <a:r>
              <a:rPr sz="1350" b="1" i="0" dirty="0">
                <a:solidFill>
                  <a:srgbClr val="003040"/>
                </a:solidFill>
                <a:latin typeface="Roboto"/>
              </a:rPr>
              <a:t>: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metodología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plantillas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AEPD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criterios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aplicados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76638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>
                <a:solidFill>
                  <a:srgbClr val="1A3A44"/>
                </a:solidFill>
                <a:latin typeface="Roboto"/>
              </a:rPr>
              <a:t>AI Act (UE 2024/1689):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clasificación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prácticas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prohibidas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obligaciones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del deployer.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48112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>
                <a:solidFill>
                  <a:srgbClr val="1A3A44"/>
                </a:solidFill>
                <a:latin typeface="Roboto"/>
              </a:rPr>
              <a:t>FRIA (art. 27):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evaluación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impacto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en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derechos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fundamentales</a:t>
            </a:r>
            <a:endParaRPr sz="1350" b="0" i="0" dirty="0">
              <a:solidFill>
                <a:srgbClr val="1A3A44"/>
              </a:solidFill>
              <a:latin typeface="Robo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4319588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>
                <a:solidFill>
                  <a:srgbClr val="1A3A44"/>
                </a:solidFill>
                <a:latin typeface="Roboto"/>
              </a:rPr>
              <a:t>AESIA: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funciones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sandbox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regulatorio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régimen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sancionador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1062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Gobernanza</a:t>
            </a:r>
            <a:r>
              <a:rPr sz="135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algorítmica</a:t>
            </a:r>
            <a:r>
              <a:rPr sz="1350" b="1" i="0" dirty="0">
                <a:solidFill>
                  <a:srgbClr val="003040"/>
                </a:solidFill>
                <a:latin typeface="Roboto"/>
              </a:rPr>
              <a:t>: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registros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públicos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auditorías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rendición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cuentas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062538"/>
            <a:ext cx="697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006D85"/>
                </a:solidFill>
                <a:latin typeface="Roboto"/>
              </a:rPr>
              <a:t>▸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Ética</a:t>
            </a:r>
            <a:r>
              <a:rPr sz="135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pública</a:t>
            </a:r>
            <a:r>
              <a:rPr sz="1350" dirty="0">
                <a:solidFill>
                  <a:srgbClr val="1A3A44"/>
                </a:solidFill>
                <a:latin typeface="Roboto"/>
              </a:rPr>
              <a:t>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aplicada</a:t>
            </a:r>
            <a:r>
              <a:rPr sz="1350" dirty="0">
                <a:solidFill>
                  <a:srgbClr val="1A3A44"/>
                </a:solidFill>
                <a:latin typeface="Roboto"/>
              </a:rPr>
              <a:t>: </a:t>
            </a:r>
            <a:r>
              <a:rPr sz="1350" dirty="0" err="1">
                <a:solidFill>
                  <a:srgbClr val="1A3A44"/>
                </a:solidFill>
                <a:latin typeface="Roboto"/>
              </a:rPr>
              <a:t>integridad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conflictos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,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ética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del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dato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y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régimen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 de </a:t>
            </a:r>
            <a:r>
              <a:rPr sz="1350" b="0" i="0" dirty="0" err="1">
                <a:solidFill>
                  <a:srgbClr val="1A3A44"/>
                </a:solidFill>
                <a:latin typeface="Roboto"/>
              </a:rPr>
              <a:t>acceso</a:t>
            </a:r>
            <a:r>
              <a:rPr sz="1350" b="0" i="0" dirty="0">
                <a:solidFill>
                  <a:srgbClr val="1A3A44"/>
                </a:solidFill>
                <a:latin typeface="Roboto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2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de 2 horas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i="0" dirty="0">
                <a:solidFill>
                  <a:srgbClr val="FFFFFF"/>
                </a:solidFill>
                <a:latin typeface="Roboto"/>
              </a:rPr>
              <a:t>1 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BORJA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3 Expediente y procedimiento en la era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81225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Procedimiento, expediente y servicio electrónico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479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Catálogo de procedimientos y cartera de servicios digitales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194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Expediente electrónico ENI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3909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Resolución del procedimiento: libros, acuerdos y decretos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76237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El registro electrónico general único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338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Dataset y activos semánticos de un procedimiento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053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Contratación electrónica: CPI, diálogo competitivo, cláusulas tipo para IA,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768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Accesibilidad WCAG 2.2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800" b="1" i="0" dirty="0">
                <a:solidFill>
                  <a:srgbClr val="FFFFFF"/>
                </a:solidFill>
                <a:latin typeface="Roboto"/>
              </a:rPr>
              <a:t>2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3 sesiones de 2 horas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i="0" dirty="0">
                <a:solidFill>
                  <a:srgbClr val="FFFFFF"/>
                </a:solidFill>
                <a:latin typeface="Roboto"/>
              </a:rPr>
              <a:t>1 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 err="1">
                <a:solidFill>
                  <a:srgbClr val="FFFFFF"/>
                </a:solidFill>
                <a:latin typeface="Roboto"/>
              </a:rPr>
              <a:t>Espublico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6643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4 Ingeniería de procedimientos y simplificación administrativa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66962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Diseño y parametrización de servicios públicos digitales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336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Diseño de workflows procedimientales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051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Programación de procedimientos automatizados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7663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Diseño del dataset de un procedimiento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4811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Auditoría y mantenimiento de procedimientos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3195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Configuración de procedimientos basada en ENI/ENS/RGPD/LCSP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910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Gobernanza del dato y gestión de procedimientos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2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3 sesiones de 2 horas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de 6 horas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 err="1">
                <a:solidFill>
                  <a:srgbClr val="FFFFFF"/>
                </a:solidFill>
                <a:latin typeface="Roboto"/>
              </a:rPr>
              <a:t>Espublico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5 Arquitectura técnica en un contexto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66962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ENI, ENS, interoperabilidad y ciberseguridad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336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Red SARA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051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ENI y Servicios Comunes de la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7663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NIS2, CER y Cyber Resilience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4811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eIDAS 2.0 y EUDI 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3195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Archivo electrónico único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910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Seguridad en el contexto del ENS (RD 311/2022)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1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0" y="3748087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de 1 hora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1 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ESPUBLICO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990933" y="6562725"/>
            <a:ext cx="8676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6 Gobernanza del dato e inteligencia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52638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Organizaciones Data 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193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Estrategia y gobierno del 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9083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Chief Data Officer en el sector público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6231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Master data management orientado a la calidad del 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337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Arquitecturas: data warehouse, data lake, data lakehouse y data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052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Estadística aplicada: Evaluación de políticas públicas basadas en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76738"/>
            <a:ext cx="69723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Evaluación causal de políticas públicas: Cuasi-experimentos, regresión discontinua, propensity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0053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Políticas de gestión del dato: reutilización, protección y actualización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1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2 horas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1 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 err="1">
                <a:solidFill>
                  <a:srgbClr val="FFFFFF"/>
                </a:solidFill>
                <a:latin typeface="Roboto"/>
              </a:rPr>
              <a:t>Espublico</a:t>
            </a:r>
            <a:r>
              <a:rPr lang="es-ES" sz="1350" b="1" dirty="0">
                <a:solidFill>
                  <a:srgbClr val="FFFFFF"/>
                </a:solidFill>
                <a:latin typeface="Roboto"/>
              </a:rPr>
              <a:t> + Borja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7 Inteligencia Artificial y tecnologías emergentes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95488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Automatización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6221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Tecnologías agénticas: RPA, BPM e hiperautomatización.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336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IA en AAPP: clasificación, NLP, visión, mapa de riesgos y casos de uso.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051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IA generativa pública: asistentes, RAG, agentes e IA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7663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MLOps y LLMOps: ciclo de vida, observabilidad y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4811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AI Act integrado: checklist del deployer, EIPD + FRIA coordinados.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1958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Blockchain público: trazabilidad, identidad y custodia.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1062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Soberanía digital y cloud: GAIA-X, ENS Alto, EUCS y FinOps.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062538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Smart cities y territorios inteligentes: sensorización, IoT y UNE 178.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800" b="1" i="0" dirty="0">
                <a:solidFill>
                  <a:srgbClr val="FFFFFF"/>
                </a:solidFill>
                <a:latin typeface="Roboto"/>
              </a:rPr>
              <a:t>1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de 1 hora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i="0" dirty="0">
                <a:solidFill>
                  <a:srgbClr val="FFFFFF"/>
                </a:solidFill>
                <a:latin typeface="Roboto"/>
              </a:rPr>
              <a:t>1 </a:t>
            </a:r>
            <a:r>
              <a:rPr lang="es-ES" sz="1350" b="1" dirty="0">
                <a:solidFill>
                  <a:srgbClr val="FFFFFF"/>
                </a:solidFill>
                <a:latin typeface="Roboto"/>
              </a:rPr>
              <a:t>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 err="1">
                <a:solidFill>
                  <a:srgbClr val="FFFFFF"/>
                </a:solidFill>
                <a:latin typeface="Roboto"/>
              </a:rPr>
              <a:t>Espublico</a:t>
            </a:r>
            <a:r>
              <a:rPr lang="es-ES" sz="1350" b="1" dirty="0">
                <a:solidFill>
                  <a:srgbClr val="FFFFFF"/>
                </a:solidFill>
                <a:latin typeface="Roboto"/>
              </a:rPr>
              <a:t> + Borja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337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8 Liderazgo público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81225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Competencias digitales para el liderazgo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479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Service design: investigación cualitativa, journeys y prototipado.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194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Design thinking + agile/lean en sector público.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3909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Métricas de servicio: tasa de finalización, NPS público y coste/trámite.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76237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Innovación pública: living labs, cocreación y Lab INAP.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338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Gestión del cambio: modelos Kotter y ADKAR.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053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Liderazgo positivo: inteligencia emocional, comunicación y gestión del talento.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768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Función pública inteligente: CDO, CIO y CISO.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1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de 2 horas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1 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 err="1">
                <a:solidFill>
                  <a:srgbClr val="FFFFFF"/>
                </a:solidFill>
                <a:latin typeface="Roboto"/>
              </a:rPr>
              <a:t>Espublico</a:t>
            </a:r>
            <a:r>
              <a:rPr lang="es-ES" sz="1350" b="1" dirty="0">
                <a:solidFill>
                  <a:srgbClr val="FFFFFF"/>
                </a:solidFill>
                <a:latin typeface="Roboto"/>
              </a:rPr>
              <a:t> + BORJA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Módulo 9 Gobierno abierto, integridad y participación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52700"/>
            <a:ext cx="6972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6D85"/>
                </a:solidFill>
                <a:latin typeface="Roboto"/>
              </a:rPr>
              <a:t>Gobernanza abierta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194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Ley 19/2013: transparencia, acceso a la información pública y buen gobierno.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9090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Data Governance Act: marco europeo para el uso responsable de datos.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6237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Data Act: derechos de los usuarios sobre sus datos.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33850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Participación digital y gobernanza colaborativa.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05325"/>
            <a:ext cx="6972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85"/>
                </a:solidFill>
                <a:latin typeface="Roboto"/>
              </a:rPr>
              <a:t>▸ </a:t>
            </a:r>
            <a:r>
              <a:rPr sz="1350" b="0" i="0">
                <a:solidFill>
                  <a:srgbClr val="1A3A44"/>
                </a:solidFill>
                <a:latin typeface="Roboto"/>
              </a:rPr>
              <a:t>Ley 2/2023 de informantes: protección de denunciantes y cultura de integridad.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2900" y="2220218"/>
            <a:ext cx="3619500" cy="3160365"/>
          </a:xfrm>
          <a:prstGeom prst="roundRect">
            <a:avLst>
              <a:gd name="adj" fmla="val 6027"/>
            </a:avLst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1500" y="2448818"/>
            <a:ext cx="31623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Roboto"/>
              </a:rPr>
              <a:t>FICHA DEL MÓDULO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1500" y="2848868"/>
            <a:ext cx="31623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1500" y="339179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500" y="28488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HORAS DE 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0" y="3010793"/>
            <a:ext cx="31623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b="1" dirty="0">
                <a:solidFill>
                  <a:srgbClr val="FFFFFF"/>
                </a:solidFill>
                <a:latin typeface="Roboto"/>
              </a:rPr>
              <a:t>1 ECTS</a:t>
            </a:r>
            <a:endParaRPr sz="1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91500" y="3553718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91500" y="4029968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1500" y="355371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371564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2 sesiones de 1 hora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91500" y="4191893"/>
            <a:ext cx="3162300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91500" y="4668143"/>
            <a:ext cx="3162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1500" y="4191893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SESIONES PRESENCIALES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4353818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1 jornada (6 horas)</a:t>
            </a:r>
            <a:endParaRPr sz="135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91500" y="4830068"/>
            <a:ext cx="3162300" cy="123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FFFFF"/>
                </a:solidFill>
                <a:latin typeface="Roboto"/>
              </a:rPr>
              <a:t>CLAUSTRO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0" y="4991993"/>
            <a:ext cx="3162300" cy="207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350" b="1" dirty="0">
                <a:solidFill>
                  <a:srgbClr val="FFFFFF"/>
                </a:solidFill>
                <a:latin typeface="Roboto"/>
              </a:rPr>
              <a:t>BORJA</a:t>
            </a:r>
            <a:endParaRPr sz="135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Metodología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209800"/>
            <a:ext cx="3505200" cy="1590675"/>
          </a:xfrm>
          <a:prstGeom prst="roundRect">
            <a:avLst>
              <a:gd name="adj" fmla="val 8383"/>
            </a:avLst>
          </a:prstGeom>
          <a:noFill/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7725" y="2447925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3A44"/>
                </a:solidFill>
                <a:latin typeface="Roboto"/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867025"/>
            <a:ext cx="3028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03040"/>
                </a:solidFill>
                <a:latin typeface="Roboto"/>
              </a:rPr>
              <a:t>Sesiones</a:t>
            </a:r>
            <a:r>
              <a:rPr sz="1200" b="1" i="0" dirty="0">
                <a:solidFill>
                  <a:srgbClr val="003040"/>
                </a:solidFill>
                <a:latin typeface="Roboto"/>
              </a:rPr>
              <a:t> </a:t>
            </a:r>
            <a:r>
              <a:rPr sz="1200" b="1" i="0" dirty="0" err="1">
                <a:solidFill>
                  <a:srgbClr val="003040"/>
                </a:solidFill>
                <a:latin typeface="Roboto"/>
              </a:rPr>
              <a:t>síncronas</a:t>
            </a:r>
            <a:r>
              <a:rPr sz="1200" b="1" i="0" dirty="0">
                <a:solidFill>
                  <a:srgbClr val="003040"/>
                </a:solidFill>
                <a:latin typeface="Roboto"/>
              </a:rPr>
              <a:t> </a:t>
            </a:r>
            <a:r>
              <a:rPr sz="1200" b="1" i="0" dirty="0" err="1">
                <a:solidFill>
                  <a:srgbClr val="003040"/>
                </a:solidFill>
                <a:latin typeface="Roboto"/>
              </a:rPr>
              <a:t>semanales</a:t>
            </a:r>
            <a:endParaRPr sz="1200" b="1" i="0" dirty="0">
              <a:solidFill>
                <a:srgbClr val="003040"/>
              </a:solidFill>
              <a:latin typeface="Robo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31623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3D5C66"/>
                </a:solidFill>
                <a:latin typeface="Roboto"/>
              </a:rPr>
              <a:t>Sesiones</a:t>
            </a:r>
            <a:r>
              <a:rPr sz="1050" b="0" i="0" dirty="0">
                <a:solidFill>
                  <a:srgbClr val="3D5C66"/>
                </a:solidFill>
                <a:latin typeface="Roboto"/>
              </a:rPr>
              <a:t> con </a:t>
            </a:r>
            <a:r>
              <a:rPr sz="1050" b="0" i="0" dirty="0" err="1">
                <a:solidFill>
                  <a:srgbClr val="3D5C66"/>
                </a:solidFill>
                <a:latin typeface="Roboto"/>
              </a:rPr>
              <a:t>expertos</a:t>
            </a:r>
            <a:r>
              <a:rPr sz="1050" b="0" i="0" dirty="0">
                <a:solidFill>
                  <a:srgbClr val="3D5C66"/>
                </a:solidFill>
                <a:latin typeface="Roboto"/>
              </a:rPr>
              <a:t>: </a:t>
            </a:r>
            <a:r>
              <a:rPr sz="1050" b="0" i="0" dirty="0" err="1">
                <a:solidFill>
                  <a:srgbClr val="3D5C66"/>
                </a:solidFill>
                <a:latin typeface="Roboto"/>
              </a:rPr>
              <a:t>académicos</a:t>
            </a:r>
            <a:r>
              <a:rPr sz="1050" b="0" i="0" dirty="0">
                <a:solidFill>
                  <a:srgbClr val="3D5C66"/>
                </a:solidFill>
                <a:latin typeface="Roboto"/>
              </a:rPr>
              <a:t>, </a:t>
            </a:r>
            <a:r>
              <a:rPr sz="1050" b="0" i="0" dirty="0" err="1">
                <a:solidFill>
                  <a:srgbClr val="3D5C66"/>
                </a:solidFill>
                <a:latin typeface="Roboto"/>
              </a:rPr>
              <a:t>funcionarios</a:t>
            </a:r>
            <a:r>
              <a:rPr sz="1050" b="0" i="0" dirty="0">
                <a:solidFill>
                  <a:srgbClr val="3D5C66"/>
                </a:solidFill>
                <a:latin typeface="Roboto"/>
              </a:rPr>
              <a:t>, </a:t>
            </a:r>
            <a:r>
              <a:rPr sz="1050" b="0" i="0" dirty="0" err="1">
                <a:solidFill>
                  <a:srgbClr val="3D5C66"/>
                </a:solidFill>
                <a:latin typeface="Roboto"/>
              </a:rPr>
              <a:t>consultores</a:t>
            </a:r>
            <a:r>
              <a:rPr sz="1050" b="0" i="0" dirty="0">
                <a:solidFill>
                  <a:srgbClr val="3D5C66"/>
                </a:solidFill>
                <a:latin typeface="Roboto"/>
              </a:rPr>
              <a:t> y </a:t>
            </a:r>
            <a:r>
              <a:rPr sz="1050" b="0" i="0" dirty="0" err="1">
                <a:solidFill>
                  <a:srgbClr val="3D5C66"/>
                </a:solidFill>
                <a:latin typeface="Roboto"/>
              </a:rPr>
              <a:t>reguladores</a:t>
            </a:r>
            <a:r>
              <a:rPr sz="1050" b="0" i="0" dirty="0">
                <a:solidFill>
                  <a:srgbClr val="3D5C66"/>
                </a:solidFill>
                <a:latin typeface="Roboto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09800"/>
            <a:ext cx="3505200" cy="1590675"/>
          </a:xfrm>
          <a:prstGeom prst="roundRect">
            <a:avLst>
              <a:gd name="adj" fmla="val 8383"/>
            </a:avLst>
          </a:prstGeom>
          <a:noFill/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1525" y="2447925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3A44"/>
                </a:solidFill>
                <a:latin typeface="Roboto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2867025"/>
            <a:ext cx="3028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040"/>
                </a:solidFill>
                <a:latin typeface="Roboto"/>
              </a:rPr>
              <a:t>Campus virtual asíncrono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1623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Materiales, recursos profesionales, simuladores y datasets.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2209800"/>
            <a:ext cx="3505200" cy="1590675"/>
          </a:xfrm>
          <a:prstGeom prst="roundRect">
            <a:avLst>
              <a:gd name="adj" fmla="val 8383"/>
            </a:avLst>
          </a:prstGeom>
          <a:noFill/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5325" y="2447925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3A44"/>
                </a:solidFill>
                <a:latin typeface="Roboto"/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2867025"/>
            <a:ext cx="3028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040"/>
                </a:solidFill>
                <a:latin typeface="Roboto"/>
              </a:rPr>
              <a:t>Laboratorio aplicado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1623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Entorno demo de plataforma de tramitación para configuración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4029075"/>
            <a:ext cx="3505200" cy="1590675"/>
          </a:xfrm>
          <a:prstGeom prst="roundRect">
            <a:avLst>
              <a:gd name="adj" fmla="val 8383"/>
            </a:avLst>
          </a:prstGeom>
          <a:noFill/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725" y="4267200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3A44"/>
                </a:solidFill>
                <a:latin typeface="Roboto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686300"/>
            <a:ext cx="3028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040"/>
                </a:solidFill>
                <a:latin typeface="Roboto"/>
              </a:rPr>
              <a:t>Seminarios con reguladores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981575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Sesiones con AEPD, AESIA, CCN y Consejo de Transparencia.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29075"/>
            <a:ext cx="3505200" cy="1590675"/>
          </a:xfrm>
          <a:prstGeom prst="roundRect">
            <a:avLst>
              <a:gd name="adj" fmla="val 8383"/>
            </a:avLst>
          </a:prstGeom>
          <a:noFill/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81525" y="4267200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3A44"/>
                </a:solidFill>
                <a:latin typeface="Roboto"/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525" y="4686300"/>
            <a:ext cx="3028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040"/>
                </a:solidFill>
                <a:latin typeface="Roboto"/>
              </a:rPr>
              <a:t>Tutorización individual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525" y="4981575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Tutor personal desde el inicio. Acompañamiento + mentor en entidad.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200" y="4029075"/>
            <a:ext cx="3505200" cy="1590675"/>
          </a:xfrm>
          <a:prstGeom prst="roundRect">
            <a:avLst>
              <a:gd name="adj" fmla="val 8383"/>
            </a:avLst>
          </a:prstGeom>
          <a:noFill/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5325" y="4267200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3A44"/>
                </a:solidFill>
                <a:latin typeface="Roboto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325" y="4686300"/>
            <a:ext cx="3028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040"/>
                </a:solidFill>
                <a:latin typeface="Roboto"/>
              </a:rPr>
              <a:t>Comunidad de práctica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5325" y="4981575"/>
            <a:ext cx="302895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El programa no termina. Comunidad permanente.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Marco de Competencias INAP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52650"/>
            <a:ext cx="10972800" cy="3295650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2162175"/>
            <a:ext cx="10953750" cy="485775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2162175"/>
            <a:ext cx="10953750" cy="19050"/>
          </a:xfrm>
          <a:prstGeom prst="rect">
            <a:avLst/>
          </a:prstGeom>
          <a:solidFill>
            <a:srgbClr val="00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2638425"/>
            <a:ext cx="10953750" cy="9525"/>
          </a:xfrm>
          <a:prstGeom prst="rect">
            <a:avLst/>
          </a:prstGeom>
          <a:solidFill>
            <a:srgbClr val="5F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1525" y="233362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9354" y="2333625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Competencia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4897" y="233362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Módulos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" y="2647950"/>
            <a:ext cx="10953750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3105150"/>
            <a:ext cx="10953750" cy="9525"/>
          </a:xfrm>
          <a:prstGeom prst="rect">
            <a:avLst/>
          </a:prstGeom>
          <a:solidFill>
            <a:srgbClr val="5F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525" y="2800350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9354" y="2800350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Alfabetización digital, información y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4897" y="2800350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M1, M6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125" y="3114675"/>
            <a:ext cx="10953750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" y="3571875"/>
            <a:ext cx="10953750" cy="9525"/>
          </a:xfrm>
          <a:prstGeom prst="rect">
            <a:avLst/>
          </a:prstGeom>
          <a:solidFill>
            <a:srgbClr val="5F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1525" y="326707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9354" y="3267075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Comunicación y colaboración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4897" y="326707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M5, M8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125" y="3581400"/>
            <a:ext cx="10953750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" y="4038600"/>
            <a:ext cx="10953750" cy="9525"/>
          </a:xfrm>
          <a:prstGeom prst="rect">
            <a:avLst/>
          </a:prstGeom>
          <a:solidFill>
            <a:srgbClr val="5F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1525" y="3733800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9354" y="3733800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Creación de contenido digital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4897" y="3733800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M5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" y="4048125"/>
            <a:ext cx="10953750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125" y="4505325"/>
            <a:ext cx="10953750" cy="9525"/>
          </a:xfrm>
          <a:prstGeom prst="rect">
            <a:avLst/>
          </a:prstGeom>
          <a:solidFill>
            <a:srgbClr val="5F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1525" y="420052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9354" y="4200525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Seguridad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4897" y="420052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M2, M4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125" y="4514850"/>
            <a:ext cx="10953750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125" y="4972050"/>
            <a:ext cx="10953750" cy="9525"/>
          </a:xfrm>
          <a:prstGeom prst="rect">
            <a:avLst/>
          </a:prstGeom>
          <a:solidFill>
            <a:srgbClr val="5F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1525" y="4667250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79354" y="4667250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Resolución de problemas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4897" y="4667250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M7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525" y="513397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85"/>
                </a:solidFill>
                <a:latin typeface="Roboto"/>
              </a:rPr>
              <a:t>Área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9354" y="5133975"/>
            <a:ext cx="4433143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Transformación digital e innovación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4897" y="5133975"/>
            <a:ext cx="295542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A44"/>
                </a:solidFill>
                <a:latin typeface="Roboto"/>
              </a:rPr>
              <a:t>M1, M7, M8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3040"/>
                </a:solidFill>
                <a:latin typeface="Roboto"/>
              </a:rPr>
              <a:t>A quién va dirigido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58243"/>
            <a:ext cx="5391150" cy="1431280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7725" y="2098923"/>
            <a:ext cx="4914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85"/>
                </a:solidFill>
                <a:latin typeface="Roboto"/>
              </a:rPr>
              <a:t>Habilitados nacionales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356098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Secretarios, interventores y tesoreros que dirigen la legalidad y transformación tecnológica de entidades locales.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0" y="1658243"/>
            <a:ext cx="5391150" cy="1431280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9375" y="2098923"/>
            <a:ext cx="4914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85"/>
                </a:solidFill>
                <a:latin typeface="Roboto"/>
              </a:rPr>
              <a:t>Técnicos de admin. general y especial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356098"/>
            <a:ext cx="49149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Implicados directamente en proyectos de modernización digital de sus entidades.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3280023"/>
            <a:ext cx="5391150" cy="1431280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725" y="3720703"/>
            <a:ext cx="4914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85"/>
                </a:solidFill>
                <a:latin typeface="Roboto"/>
              </a:rPr>
              <a:t>Personal TIC y CIOs / CDOs / CISOs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77878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Responsables tecnológicos del sector público que requieren la capa jurídica y estratégica.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0" y="3280023"/>
            <a:ext cx="5391150" cy="1431280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9375" y="3720703"/>
            <a:ext cx="4914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85"/>
                </a:solidFill>
                <a:latin typeface="Roboto"/>
              </a:rPr>
              <a:t>Delegados de Protección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77878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DPDs del sector público que necesitan ampliar a IA, derechos digitales y arquitectura técnica.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4901803"/>
            <a:ext cx="5391150" cy="1231255"/>
          </a:xfrm>
          <a:prstGeom prst="roundRect">
            <a:avLst>
              <a:gd name="adj" fmla="val 10830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725" y="5342483"/>
            <a:ext cx="4914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85"/>
                </a:solidFill>
                <a:latin typeface="Roboto"/>
              </a:rPr>
              <a:t>Directivos públicos y responsables de innovación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5599658"/>
            <a:ext cx="49149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Liderazgo de modernización con visión 360º y capacidad de decisión transversal.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250" y="4901803"/>
            <a:ext cx="5391150" cy="1231255"/>
          </a:xfrm>
          <a:prstGeom prst="roundRect">
            <a:avLst>
              <a:gd name="adj" fmla="val 10830"/>
            </a:avLst>
          </a:prstGeom>
          <a:solidFill>
            <a:srgbClr val="FFFFFF"/>
          </a:solidFill>
          <a:ln w="9525">
            <a:solidFill>
              <a:srgbClr val="5FF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9375" y="5342483"/>
            <a:ext cx="4914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85"/>
                </a:solidFill>
                <a:latin typeface="Roboto"/>
              </a:rPr>
              <a:t>Juristas, consultores y profesionales GovTech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5599658"/>
            <a:ext cx="49149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5C66"/>
                </a:solidFill>
                <a:latin typeface="Roboto"/>
              </a:rPr>
              <a:t>Consultoras, legaltech y govtech que prestan servicios al sector público.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2493" y="3120330"/>
            <a:ext cx="9447014" cy="617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003040"/>
                </a:solidFill>
                <a:latin typeface="Roboto"/>
              </a:rPr>
              <a:t>Construyamos </a:t>
            </a:r>
            <a:r>
              <a:rPr sz="4500" b="1" i="0">
                <a:solidFill>
                  <a:srgbClr val="006D85"/>
                </a:solidFill>
                <a:latin typeface="Roboto"/>
              </a:rPr>
              <a:t>el futuro</a:t>
            </a:r>
            <a:r>
              <a:rPr sz="4500" b="1" i="0">
                <a:solidFill>
                  <a:srgbClr val="003040"/>
                </a:solidFill>
                <a:latin typeface="Roboto"/>
              </a:rPr>
              <a:t> de lo público.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04315" y="6562725"/>
            <a:ext cx="1733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1609</Words>
  <Application>Microsoft Macintosh PowerPoint</Application>
  <PresentationFormat>Panorámica</PresentationFormat>
  <Paragraphs>279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Ricardo Peñalver</cp:lastModifiedBy>
  <cp:revision>3</cp:revision>
  <dcterms:created xsi:type="dcterms:W3CDTF">2013-01-27T09:14:16Z</dcterms:created>
  <dcterms:modified xsi:type="dcterms:W3CDTF">2026-05-21T21:03:33Z</dcterms:modified>
  <cp:category/>
</cp:coreProperties>
</file>